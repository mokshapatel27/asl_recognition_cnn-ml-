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67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2" autoAdjust="0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Arial"/>
              </a:rPr>
              <a:t>Model Accuracy Comparison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28344A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85F-4303-B91D-FD1ED00A43C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85F-4303-B91D-FD1ED00A43C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885F-4303-B91D-FD1ED00A43CA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85F-4303-B91D-FD1ED00A43CA}"/>
              </c:ext>
            </c:extLst>
          </c:dPt>
          <c:dPt>
            <c:idx val="4"/>
            <c:invertIfNegative val="0"/>
            <c:bubble3D val="0"/>
            <c:spPr>
              <a:solidFill>
                <a:srgbClr val="00C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85F-4303-B91D-FD1ED00A43C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Talukder
2023</c:v>
                </c:pt>
                <c:pt idx="1">
                  <c:v>Pigou
2014</c:v>
                </c:pt>
                <c:pt idx="2">
                  <c:v>Shinde
2023</c:v>
                </c:pt>
                <c:pt idx="3">
                  <c:v>Khubchandani
&amp; Karthick</c:v>
                </c:pt>
                <c:pt idx="4">
                  <c:v>Proposed
Model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93.5</c:v>
                </c:pt>
                <c:pt idx="1">
                  <c:v>92.7</c:v>
                </c:pt>
                <c:pt idx="2">
                  <c:v>94.1</c:v>
                </c:pt>
                <c:pt idx="3">
                  <c:v>95</c:v>
                </c:pt>
                <c:pt idx="4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85F-4303-B91D-FD1ED00A43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8"/>
          <c:min val="90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Paper (Proposed Model)</c:v>
                </c:pt>
              </c:strCache>
            </c:strRef>
          </c:tx>
          <c:spPr>
            <a:solidFill>
              <a:srgbClr val="00C89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Static Sign
Recognition</c:v>
                </c:pt>
                <c:pt idx="1">
                  <c:v>Dynamic Gesture
Recognition</c:v>
                </c:pt>
                <c:pt idx="2">
                  <c:v>Cross-Language
Transfer</c:v>
                </c:pt>
                <c:pt idx="3">
                  <c:v>Realtime
Throughput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</c:v>
                </c:pt>
                <c:pt idx="1">
                  <c:v>90</c:v>
                </c:pt>
                <c:pt idx="2">
                  <c:v>60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64-4707-B429-81715B78A6C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 Implementation</c:v>
                </c:pt>
              </c:strCache>
            </c:strRef>
          </c:tx>
          <c:spPr>
            <a:solidFill>
              <a:srgbClr val="7B5EA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Static Sign
Recognition</c:v>
                </c:pt>
                <c:pt idx="1">
                  <c:v>Dynamic Gesture
Recognition</c:v>
                </c:pt>
                <c:pt idx="2">
                  <c:v>Cross-Language
Transfer</c:v>
                </c:pt>
                <c:pt idx="3">
                  <c:v>Realtime
Throughput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94</c:v>
                </c:pt>
                <c:pt idx="1">
                  <c:v>85</c:v>
                </c:pt>
                <c:pt idx="2">
                  <c:v>45</c:v>
                </c:pt>
                <c:pt idx="3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64-4707-B429-81715B78A6C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>
              <a:solidFill>
                <a:srgbClr val="8B949E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091714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1C0F2E"/>
          </a:solidFill>
          <a:ln w="12700">
            <a:solidFill>
              <a:srgbClr val="1C0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560320"/>
            <a:ext cx="2743200" cy="27432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63639" y="232468"/>
            <a:ext cx="2011680" cy="274320"/>
          </a:xfrm>
          <a:prstGeom prst="roundRect">
            <a:avLst>
              <a:gd name="adj" fmla="val 16667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63639" y="2324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OPEN ENDED PROJECT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37514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Sign Language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369034"/>
            <a:ext cx="6583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to Text &amp; Speech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210282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·  Computer Vision  ·  Assistive AI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761750"/>
            <a:ext cx="6675120" cy="183794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725174"/>
            <a:ext cx="30510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2976634"/>
            <a:ext cx="608685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cs typeface="Calibri" pitchFamily="34" charset="-120"/>
              </a:rPr>
              <a:t>NYASA DESAI -- (ET23BTCO007)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cs typeface="Calibri" pitchFamily="34" charset="-120"/>
              </a:rPr>
              <a:t>MANYA JAIN -- (ET23BTCO027)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cs typeface="Calibri" pitchFamily="34" charset="-120"/>
              </a:rPr>
              <a:t>BRINDA NAIK -- (ET23BTCO029)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cs typeface="Calibri" pitchFamily="34" charset="-120"/>
              </a:rPr>
              <a:t>ARYA PATEL -- (ET23BTCO035)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cs typeface="Calibri" pitchFamily="34" charset="-120"/>
              </a:rPr>
              <a:t>MOKSHA PATEL -- (ET23BTCO040)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 |  2024–25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1042416" cy="246888"/>
          </a:xfrm>
          <a:prstGeom prst="roundRect">
            <a:avLst>
              <a:gd name="adj" fmla="val 1851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1042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OVERVIEW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Technologies Used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607820"/>
            <a:ext cx="85039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607820"/>
            <a:ext cx="64008" cy="621792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2369" y="1662684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6626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Convolusional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Neural Network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1937004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feature extraction — edges, shapes, textures from hand images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2432558"/>
            <a:ext cx="85039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432558"/>
            <a:ext cx="64008" cy="621792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487422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248742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Long-Short Term Memory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2761742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sequence modeling — captures gesture motion over time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295396"/>
            <a:ext cx="85039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3295396"/>
            <a:ext cx="64008" cy="621792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2369" y="3350260"/>
            <a:ext cx="97663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33502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Google’s Hand Tracking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3624580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21-point hand landmark detection in real time at 30+ FPS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126484"/>
            <a:ext cx="8503920" cy="621792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4126484"/>
            <a:ext cx="64008" cy="621792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42575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41813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Weights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4455668"/>
            <a:ext cx="7132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ImageNet-trained models to boost accuracy and cut training time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290572" cy="246888"/>
          </a:xfrm>
          <a:prstGeom prst="roundRect">
            <a:avLst>
              <a:gd name="adj" fmla="val 1851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22905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RESEARCH · SLIDE 1/10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85580"/>
            <a:ext cx="8823960" cy="5065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                              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70485"/>
            <a:ext cx="8503920" cy="0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9967" y="1226243"/>
            <a:ext cx="2013257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9967" y="1317683"/>
            <a:ext cx="2013257" cy="5829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430M+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59967" y="1898299"/>
            <a:ext cx="2013257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worldwide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 on sign language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8637" y="2951764"/>
            <a:ext cx="3623441" cy="390876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070485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8637" y="2931159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Delay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78637" y="3141471"/>
            <a:ext cx="380447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systems exceed 200ms — too slow for natural conversation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8637" y="3532346"/>
            <a:ext cx="3623441" cy="432086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73224" y="1664845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8637" y="3525519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Drop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8637" y="3733163"/>
            <a:ext cx="3623441" cy="23126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15–25% accuracy loss in real-world vs controlled lab settings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8637" y="4126704"/>
            <a:ext cx="3623441" cy="432087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8637" y="4119879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Cross-Language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8637" y="4355303"/>
            <a:ext cx="3720397" cy="2034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→ BSL transfer only 45–60% accurate without heavy retraining</a:t>
            </a:r>
            <a:endParaRPr lang="en-US" sz="1000" dirty="0"/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E888E86-1106-4C33-A891-620FDC680102}"/>
              </a:ext>
            </a:extLst>
          </p:cNvPr>
          <p:cNvSpPr/>
          <p:nvPr/>
        </p:nvSpPr>
        <p:spPr>
          <a:xfrm>
            <a:off x="4823724" y="1365691"/>
            <a:ext cx="3884623" cy="390876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5A9D9B60-49D3-4F79-B8D4-315F03A49871}"/>
              </a:ext>
            </a:extLst>
          </p:cNvPr>
          <p:cNvSpPr/>
          <p:nvPr/>
        </p:nvSpPr>
        <p:spPr>
          <a:xfrm>
            <a:off x="4823724" y="134508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Recognition</a:t>
            </a:r>
            <a:endParaRPr lang="en-US" sz="1200" dirty="0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D9659D1F-6E57-46F3-9B26-1DBF68AA3582}"/>
              </a:ext>
            </a:extLst>
          </p:cNvPr>
          <p:cNvSpPr/>
          <p:nvPr/>
        </p:nvSpPr>
        <p:spPr>
          <a:xfrm>
            <a:off x="4823724" y="1576007"/>
            <a:ext cx="4171816" cy="1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hand gesture capture and classification using camera input</a:t>
            </a:r>
            <a:endParaRPr lang="en-US" sz="1000" dirty="0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620259FF-30F1-4C98-8654-B1D938A216F0}"/>
              </a:ext>
            </a:extLst>
          </p:cNvPr>
          <p:cNvSpPr/>
          <p:nvPr/>
        </p:nvSpPr>
        <p:spPr>
          <a:xfrm>
            <a:off x="4823724" y="1946273"/>
            <a:ext cx="3884623" cy="432086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0011E749-827E-4691-B7DF-A077D2838668}"/>
              </a:ext>
            </a:extLst>
          </p:cNvPr>
          <p:cNvSpPr/>
          <p:nvPr/>
        </p:nvSpPr>
        <p:spPr>
          <a:xfrm>
            <a:off x="4823724" y="193944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→ Text → Speech</a:t>
            </a:r>
            <a:endParaRPr lang="en-US" sz="1200" dirty="0"/>
          </a:p>
        </p:txBody>
      </p:sp>
      <p:sp>
        <p:nvSpPr>
          <p:cNvPr id="28" name="Text 14">
            <a:extLst>
              <a:ext uri="{FF2B5EF4-FFF2-40B4-BE49-F238E27FC236}">
                <a16:creationId xmlns:a16="http://schemas.microsoft.com/office/drawing/2014/main" id="{04D66C78-E750-4BC3-8E80-EAE9309EFE95}"/>
              </a:ext>
            </a:extLst>
          </p:cNvPr>
          <p:cNvSpPr/>
          <p:nvPr/>
        </p:nvSpPr>
        <p:spPr>
          <a:xfrm>
            <a:off x="4823724" y="2188651"/>
            <a:ext cx="3804479" cy="182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recognized sign gestures into readable text and spoken audio</a:t>
            </a:r>
            <a:endParaRPr lang="en-US" sz="1000" dirty="0"/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E80F0351-9D5B-4605-A606-61ED84AFD4CF}"/>
              </a:ext>
            </a:extLst>
          </p:cNvPr>
          <p:cNvSpPr/>
          <p:nvPr/>
        </p:nvSpPr>
        <p:spPr>
          <a:xfrm>
            <a:off x="4823724" y="2540631"/>
            <a:ext cx="3884623" cy="432087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F80DF1B2-B325-4CCE-AA82-8CCBA8A6147B}"/>
              </a:ext>
            </a:extLst>
          </p:cNvPr>
          <p:cNvSpPr/>
          <p:nvPr/>
        </p:nvSpPr>
        <p:spPr>
          <a:xfrm>
            <a:off x="4823724" y="253380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200" dirty="0"/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25EF6076-2B78-4093-8494-77880E7EF60C}"/>
              </a:ext>
            </a:extLst>
          </p:cNvPr>
          <p:cNvSpPr/>
          <p:nvPr/>
        </p:nvSpPr>
        <p:spPr>
          <a:xfrm>
            <a:off x="4823724" y="2779433"/>
            <a:ext cx="4204663" cy="1932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recognition beyond single sign language for broader accessibility</a:t>
            </a:r>
            <a:endParaRPr lang="en-US" sz="1000" dirty="0"/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527F6B75-1D17-4598-AE5A-7193E54EACB4}"/>
              </a:ext>
            </a:extLst>
          </p:cNvPr>
          <p:cNvSpPr/>
          <p:nvPr/>
        </p:nvSpPr>
        <p:spPr>
          <a:xfrm>
            <a:off x="4823724" y="3142525"/>
            <a:ext cx="3884623" cy="390876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3CB6F5BD-E0AC-4384-8AE8-C7C63D78EF76}"/>
              </a:ext>
            </a:extLst>
          </p:cNvPr>
          <p:cNvSpPr/>
          <p:nvPr/>
        </p:nvSpPr>
        <p:spPr>
          <a:xfrm>
            <a:off x="4823724" y="31219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Accuracy</a:t>
            </a:r>
            <a:endParaRPr lang="en-US" sz="12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10A3F827-0C6E-4239-8086-D4EC7E1DFAB7}"/>
              </a:ext>
            </a:extLst>
          </p:cNvPr>
          <p:cNvSpPr/>
          <p:nvPr/>
        </p:nvSpPr>
        <p:spPr>
          <a:xfrm>
            <a:off x="4823724" y="3332232"/>
            <a:ext cx="380447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&gt;95% recognition accuracy for reliable communication</a:t>
            </a:r>
            <a:endParaRPr lang="en-US" sz="1000" dirty="0"/>
          </a:p>
        </p:txBody>
      </p:sp>
      <p:sp>
        <p:nvSpPr>
          <p:cNvPr id="35" name="Shape 11">
            <a:extLst>
              <a:ext uri="{FF2B5EF4-FFF2-40B4-BE49-F238E27FC236}">
                <a16:creationId xmlns:a16="http://schemas.microsoft.com/office/drawing/2014/main" id="{19F517BE-587B-4FEF-AAE3-25A5A8DA5B5D}"/>
              </a:ext>
            </a:extLst>
          </p:cNvPr>
          <p:cNvSpPr/>
          <p:nvPr/>
        </p:nvSpPr>
        <p:spPr>
          <a:xfrm>
            <a:off x="4823724" y="3723107"/>
            <a:ext cx="3884623" cy="432086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8F2DA98A-E298-4600-A218-49C41C4EC9A5}"/>
              </a:ext>
            </a:extLst>
          </p:cNvPr>
          <p:cNvSpPr/>
          <p:nvPr/>
        </p:nvSpPr>
        <p:spPr>
          <a:xfrm>
            <a:off x="4823724" y="37162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</a:t>
            </a:r>
            <a:endParaRPr lang="en-US" sz="1200" dirty="0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B9E5D814-1186-4EFD-B39D-7EBF52BC6625}"/>
              </a:ext>
            </a:extLst>
          </p:cNvPr>
          <p:cNvSpPr/>
          <p:nvPr/>
        </p:nvSpPr>
        <p:spPr>
          <a:xfrm>
            <a:off x="4823724" y="3961906"/>
            <a:ext cx="3884623" cy="1932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response time below 75ms for seamless real-time experience</a:t>
            </a:r>
            <a:endParaRPr lang="en-US" sz="1000" dirty="0"/>
          </a:p>
        </p:txBody>
      </p:sp>
      <p:sp>
        <p:nvSpPr>
          <p:cNvPr id="38" name="Shape 15">
            <a:extLst>
              <a:ext uri="{FF2B5EF4-FFF2-40B4-BE49-F238E27FC236}">
                <a16:creationId xmlns:a16="http://schemas.microsoft.com/office/drawing/2014/main" id="{7CAB5517-E4F2-4A3A-972E-844A92478AA6}"/>
              </a:ext>
            </a:extLst>
          </p:cNvPr>
          <p:cNvSpPr/>
          <p:nvPr/>
        </p:nvSpPr>
        <p:spPr>
          <a:xfrm>
            <a:off x="4823724" y="4317465"/>
            <a:ext cx="3884623" cy="432087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36908402-4161-4113-8B18-10D889A05C4B}"/>
              </a:ext>
            </a:extLst>
          </p:cNvPr>
          <p:cNvSpPr/>
          <p:nvPr/>
        </p:nvSpPr>
        <p:spPr>
          <a:xfrm>
            <a:off x="4823724" y="4310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System</a:t>
            </a:r>
            <a:endParaRPr lang="en-US" sz="1200" dirty="0"/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C050C458-4663-4157-89ED-E32968AF1F9B}"/>
              </a:ext>
            </a:extLst>
          </p:cNvPr>
          <p:cNvSpPr/>
          <p:nvPr/>
        </p:nvSpPr>
        <p:spPr>
          <a:xfrm>
            <a:off x="4823724" y="4546064"/>
            <a:ext cx="3720397" cy="2034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varied lighting, backgrounds, and hand orientations robustly</a:t>
            </a:r>
            <a:endParaRPr lang="en-US" sz="1000" dirty="0"/>
          </a:p>
        </p:txBody>
      </p:sp>
      <p:sp>
        <p:nvSpPr>
          <p:cNvPr id="41" name="Shape 3">
            <a:extLst>
              <a:ext uri="{FF2B5EF4-FFF2-40B4-BE49-F238E27FC236}">
                <a16:creationId xmlns:a16="http://schemas.microsoft.com/office/drawing/2014/main" id="{64D37902-6A56-46A0-B5BE-50B9908F97C3}"/>
              </a:ext>
            </a:extLst>
          </p:cNvPr>
          <p:cNvSpPr/>
          <p:nvPr/>
        </p:nvSpPr>
        <p:spPr>
          <a:xfrm flipH="1" flipV="1">
            <a:off x="4391222" y="1206156"/>
            <a:ext cx="36261" cy="3678606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290572" cy="246888"/>
          </a:xfrm>
          <a:prstGeom prst="roundRect">
            <a:avLst>
              <a:gd name="adj" fmla="val 1851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22905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RESEARCH · SLIDE 2/10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Kaggle ASL Alphabet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592314"/>
            <a:ext cx="26517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83754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87,000+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65760" y="227811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592314"/>
            <a:ext cx="26517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46120" y="1683754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46120" y="227811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(A–Z + del/nothing/space)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592314"/>
            <a:ext cx="265176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683754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200×200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26480" y="2278114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Resolution (px)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" y="2872474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Strategy (from paper)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3238234"/>
            <a:ext cx="8503920" cy="1218149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393682"/>
            <a:ext cx="109728" cy="109728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347962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±15° rotation — mimics natural hand movement variation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741154"/>
            <a:ext cx="109728" cy="109728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695434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positional shift (X &amp; Y) — location invariance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88626"/>
            <a:ext cx="109728" cy="109728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" y="4042906"/>
            <a:ext cx="3931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90–110% zoom variation — hand size &amp; distance diversity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393682"/>
            <a:ext cx="109728" cy="109728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0328" y="3347962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±20% brightness adjustment — lighting robustness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741154"/>
            <a:ext cx="109728" cy="109728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10328" y="3695434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noise σ=0.01 — robustness to camera noise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4088626"/>
            <a:ext cx="109728" cy="109728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0328" y="4042906"/>
            <a:ext cx="38404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flip for orientation invariance (some signs)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290572" cy="246888"/>
          </a:xfrm>
          <a:prstGeom prst="roundRect">
            <a:avLst>
              <a:gd name="adj" fmla="val 1851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22905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RESEARCH · SLIDE 3/10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CNN-LSTM Architecture (Paper)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5974" y="2395519"/>
            <a:ext cx="1298448" cy="777240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5974" y="2395519"/>
            <a:ext cx="12984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224×224×3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34422" y="2779567"/>
            <a:ext cx="73152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07574" y="2395519"/>
            <a:ext cx="1298448" cy="77724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7574" y="2395519"/>
            <a:ext cx="12984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06022" y="2779567"/>
            <a:ext cx="73152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79174" y="2395519"/>
            <a:ext cx="1298448" cy="7772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79174" y="2395519"/>
            <a:ext cx="12984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77622" y="2779567"/>
            <a:ext cx="73152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50774" y="2395519"/>
            <a:ext cx="1298448" cy="777240"/>
          </a:xfrm>
          <a:prstGeom prst="rect">
            <a:avLst/>
          </a:prstGeom>
          <a:solidFill>
            <a:srgbClr val="006400"/>
          </a:solidFill>
          <a:ln w="12700">
            <a:solidFill>
              <a:srgbClr val="0064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0774" y="2395519"/>
            <a:ext cx="12984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128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+Dropout 0.3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49222" y="2779567"/>
            <a:ext cx="73152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22374" y="2395519"/>
            <a:ext cx="1298448" cy="777240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22374" y="2395519"/>
            <a:ext cx="12984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64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+Dropout 0.2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220822" y="2779567"/>
            <a:ext cx="73152" cy="0"/>
          </a:xfrm>
          <a:prstGeom prst="line">
            <a:avLst/>
          </a:prstGeom>
          <a:noFill/>
          <a:ln w="25400">
            <a:solidFill>
              <a:srgbClr val="00E5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93974" y="2395519"/>
            <a:ext cx="1298448" cy="77724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93974" y="2395519"/>
            <a:ext cx="129844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Classes</a:t>
            </a:r>
            <a:endParaRPr lang="en-US" sz="1000" dirty="0"/>
          </a:p>
        </p:txBody>
      </p:sp>
      <p:sp>
        <p:nvSpPr>
          <p:cNvPr id="44" name="Shape 35">
            <a:extLst>
              <a:ext uri="{FF2B5EF4-FFF2-40B4-BE49-F238E27FC236}">
                <a16:creationId xmlns:a16="http://schemas.microsoft.com/office/drawing/2014/main" id="{A3D2EAC5-FE04-41CA-8F91-EDC6FB765A46}"/>
              </a:ext>
            </a:extLst>
          </p:cNvPr>
          <p:cNvSpPr/>
          <p:nvPr/>
        </p:nvSpPr>
        <p:spPr>
          <a:xfrm>
            <a:off x="341903" y="1404345"/>
            <a:ext cx="1353312" cy="73152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5" name="Text 36">
            <a:extLst>
              <a:ext uri="{FF2B5EF4-FFF2-40B4-BE49-F238E27FC236}">
                <a16:creationId xmlns:a16="http://schemas.microsoft.com/office/drawing/2014/main" id="{00443EF5-4995-47D2-8C51-4FC81C32FDF7}"/>
              </a:ext>
            </a:extLst>
          </p:cNvPr>
          <p:cNvSpPr/>
          <p:nvPr/>
        </p:nvSpPr>
        <p:spPr>
          <a:xfrm>
            <a:off x="341903" y="1459209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Base Model</a:t>
            </a:r>
            <a:endParaRPr lang="en-US" sz="800" dirty="0"/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85B3BED4-320B-4A2B-AEC7-DE1F8A6772B0}"/>
              </a:ext>
            </a:extLst>
          </p:cNvPr>
          <p:cNvSpPr/>
          <p:nvPr/>
        </p:nvSpPr>
        <p:spPr>
          <a:xfrm>
            <a:off x="341903" y="1733529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</a:rPr>
              <a:t>MobileNetV2</a:t>
            </a:r>
            <a:endParaRPr lang="en-US" sz="1100" dirty="0"/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4050139E-500F-4249-B88F-D93B657F9111}"/>
              </a:ext>
            </a:extLst>
          </p:cNvPr>
          <p:cNvSpPr/>
          <p:nvPr/>
        </p:nvSpPr>
        <p:spPr>
          <a:xfrm>
            <a:off x="1750079" y="1404345"/>
            <a:ext cx="1353312" cy="73152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9A1E1BD1-0361-4E38-8BB5-BFA65593A641}"/>
              </a:ext>
            </a:extLst>
          </p:cNvPr>
          <p:cNvSpPr/>
          <p:nvPr/>
        </p:nvSpPr>
        <p:spPr>
          <a:xfrm>
            <a:off x="1750079" y="1459209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Pre-trained on</a:t>
            </a:r>
            <a:endParaRPr lang="en-US" sz="800" dirty="0"/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6992BF2E-71E0-4439-95AE-A9CEFAE2BE25}"/>
              </a:ext>
            </a:extLst>
          </p:cNvPr>
          <p:cNvSpPr/>
          <p:nvPr/>
        </p:nvSpPr>
        <p:spPr>
          <a:xfrm>
            <a:off x="1750079" y="1733529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</a:rPr>
              <a:t>ImageNet</a:t>
            </a:r>
            <a:endParaRPr lang="en-US" sz="110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51239873-867E-49F1-B22D-8EFF14D3CDC4}"/>
              </a:ext>
            </a:extLst>
          </p:cNvPr>
          <p:cNvSpPr/>
          <p:nvPr/>
        </p:nvSpPr>
        <p:spPr>
          <a:xfrm>
            <a:off x="3158255" y="1404345"/>
            <a:ext cx="1353312" cy="73152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1" name="Text 42">
            <a:extLst>
              <a:ext uri="{FF2B5EF4-FFF2-40B4-BE49-F238E27FC236}">
                <a16:creationId xmlns:a16="http://schemas.microsoft.com/office/drawing/2014/main" id="{5B87D41E-76CB-40A0-96CE-A225222E2B7C}"/>
              </a:ext>
            </a:extLst>
          </p:cNvPr>
          <p:cNvSpPr/>
          <p:nvPr/>
        </p:nvSpPr>
        <p:spPr>
          <a:xfrm>
            <a:off x="3158255" y="1459209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Input Size</a:t>
            </a:r>
            <a:endParaRPr lang="en-US" sz="800" dirty="0"/>
          </a:p>
        </p:txBody>
      </p:sp>
      <p:sp>
        <p:nvSpPr>
          <p:cNvPr id="52" name="Text 43">
            <a:extLst>
              <a:ext uri="{FF2B5EF4-FFF2-40B4-BE49-F238E27FC236}">
                <a16:creationId xmlns:a16="http://schemas.microsoft.com/office/drawing/2014/main" id="{E5667DD8-645D-4637-B37D-D8B014184CE7}"/>
              </a:ext>
            </a:extLst>
          </p:cNvPr>
          <p:cNvSpPr/>
          <p:nvPr/>
        </p:nvSpPr>
        <p:spPr>
          <a:xfrm>
            <a:off x="3158255" y="1733529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</a:rPr>
              <a:t>224 × 224 px</a:t>
            </a:r>
            <a:endParaRPr lang="en-US" sz="1100" dirty="0"/>
          </a:p>
        </p:txBody>
      </p:sp>
      <p:sp>
        <p:nvSpPr>
          <p:cNvPr id="53" name="Shape 44">
            <a:extLst>
              <a:ext uri="{FF2B5EF4-FFF2-40B4-BE49-F238E27FC236}">
                <a16:creationId xmlns:a16="http://schemas.microsoft.com/office/drawing/2014/main" id="{9A683E86-E75A-4757-B42F-2793F21304A4}"/>
              </a:ext>
            </a:extLst>
          </p:cNvPr>
          <p:cNvSpPr/>
          <p:nvPr/>
        </p:nvSpPr>
        <p:spPr>
          <a:xfrm>
            <a:off x="4566431" y="1404345"/>
            <a:ext cx="1353312" cy="73152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4" name="Text 45">
            <a:extLst>
              <a:ext uri="{FF2B5EF4-FFF2-40B4-BE49-F238E27FC236}">
                <a16:creationId xmlns:a16="http://schemas.microsoft.com/office/drawing/2014/main" id="{3AEEE17A-6E5C-4069-A1F7-9C17B490B98F}"/>
              </a:ext>
            </a:extLst>
          </p:cNvPr>
          <p:cNvSpPr/>
          <p:nvPr/>
        </p:nvSpPr>
        <p:spPr>
          <a:xfrm>
            <a:off x="4566431" y="1459209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Optimizer</a:t>
            </a:r>
            <a:endParaRPr lang="en-US" sz="800" dirty="0"/>
          </a:p>
        </p:txBody>
      </p:sp>
      <p:sp>
        <p:nvSpPr>
          <p:cNvPr id="55" name="Text 46">
            <a:extLst>
              <a:ext uri="{FF2B5EF4-FFF2-40B4-BE49-F238E27FC236}">
                <a16:creationId xmlns:a16="http://schemas.microsoft.com/office/drawing/2014/main" id="{D101002B-FCA3-48F9-8E02-749110456F9C}"/>
              </a:ext>
            </a:extLst>
          </p:cNvPr>
          <p:cNvSpPr/>
          <p:nvPr/>
        </p:nvSpPr>
        <p:spPr>
          <a:xfrm>
            <a:off x="4566431" y="1733529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</a:rPr>
              <a:t>Adam  lr=0.001</a:t>
            </a:r>
            <a:endParaRPr lang="en-US" sz="110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84DE97DB-05F9-430E-B302-325BBC8666CC}"/>
              </a:ext>
            </a:extLst>
          </p:cNvPr>
          <p:cNvSpPr/>
          <p:nvPr/>
        </p:nvSpPr>
        <p:spPr>
          <a:xfrm>
            <a:off x="5974607" y="1404345"/>
            <a:ext cx="1353312" cy="73152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7" name="Text 48">
            <a:extLst>
              <a:ext uri="{FF2B5EF4-FFF2-40B4-BE49-F238E27FC236}">
                <a16:creationId xmlns:a16="http://schemas.microsoft.com/office/drawing/2014/main" id="{C34D64C5-9B11-4230-A330-FB0AB68AE4A4}"/>
              </a:ext>
            </a:extLst>
          </p:cNvPr>
          <p:cNvSpPr/>
          <p:nvPr/>
        </p:nvSpPr>
        <p:spPr>
          <a:xfrm>
            <a:off x="5974607" y="1459209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Loss Function</a:t>
            </a:r>
            <a:endParaRPr lang="en-US" sz="800" dirty="0"/>
          </a:p>
        </p:txBody>
      </p:sp>
      <p:sp>
        <p:nvSpPr>
          <p:cNvPr id="58" name="Text 49">
            <a:extLst>
              <a:ext uri="{FF2B5EF4-FFF2-40B4-BE49-F238E27FC236}">
                <a16:creationId xmlns:a16="http://schemas.microsoft.com/office/drawing/2014/main" id="{7FA54718-FFD8-4284-B6C1-E268F580B53B}"/>
              </a:ext>
            </a:extLst>
          </p:cNvPr>
          <p:cNvSpPr/>
          <p:nvPr/>
        </p:nvSpPr>
        <p:spPr>
          <a:xfrm>
            <a:off x="5974607" y="1733529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</a:rPr>
              <a:t>Categorical CrossEntropy</a:t>
            </a:r>
            <a:endParaRPr lang="en-US" sz="1100" dirty="0"/>
          </a:p>
        </p:txBody>
      </p:sp>
      <p:sp>
        <p:nvSpPr>
          <p:cNvPr id="59" name="Shape 50">
            <a:extLst>
              <a:ext uri="{FF2B5EF4-FFF2-40B4-BE49-F238E27FC236}">
                <a16:creationId xmlns:a16="http://schemas.microsoft.com/office/drawing/2014/main" id="{201919F8-3359-4CB4-8CBE-BF62F2447357}"/>
              </a:ext>
            </a:extLst>
          </p:cNvPr>
          <p:cNvSpPr/>
          <p:nvPr/>
        </p:nvSpPr>
        <p:spPr>
          <a:xfrm>
            <a:off x="7382783" y="1404345"/>
            <a:ext cx="1353312" cy="731520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0" name="Text 51">
            <a:extLst>
              <a:ext uri="{FF2B5EF4-FFF2-40B4-BE49-F238E27FC236}">
                <a16:creationId xmlns:a16="http://schemas.microsoft.com/office/drawing/2014/main" id="{5FEFF54C-E3E8-44FC-B718-EB71B336C920}"/>
              </a:ext>
            </a:extLst>
          </p:cNvPr>
          <p:cNvSpPr/>
          <p:nvPr/>
        </p:nvSpPr>
        <p:spPr>
          <a:xfrm>
            <a:off x="7382783" y="1459209"/>
            <a:ext cx="13533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</a:rPr>
              <a:t>Batch Size</a:t>
            </a:r>
            <a:endParaRPr lang="en-US" sz="800" dirty="0"/>
          </a:p>
        </p:txBody>
      </p:sp>
      <p:sp>
        <p:nvSpPr>
          <p:cNvPr id="61" name="Text 52">
            <a:extLst>
              <a:ext uri="{FF2B5EF4-FFF2-40B4-BE49-F238E27FC236}">
                <a16:creationId xmlns:a16="http://schemas.microsoft.com/office/drawing/2014/main" id="{6F4D7F0A-787A-4CF6-995D-2A757EF26A15}"/>
              </a:ext>
            </a:extLst>
          </p:cNvPr>
          <p:cNvSpPr/>
          <p:nvPr/>
        </p:nvSpPr>
        <p:spPr>
          <a:xfrm>
            <a:off x="7382783" y="1733529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</a:rPr>
              <a:t>32</a:t>
            </a:r>
            <a:endParaRPr lang="en-US" sz="1100" dirty="0"/>
          </a:p>
        </p:txBody>
      </p:sp>
      <p:sp>
        <p:nvSpPr>
          <p:cNvPr id="80" name="Shape 35">
            <a:extLst>
              <a:ext uri="{FF2B5EF4-FFF2-40B4-BE49-F238E27FC236}">
                <a16:creationId xmlns:a16="http://schemas.microsoft.com/office/drawing/2014/main" id="{116E41EB-E64B-4E8A-98C0-EF9CE24A6A4B}"/>
              </a:ext>
            </a:extLst>
          </p:cNvPr>
          <p:cNvSpPr/>
          <p:nvPr/>
        </p:nvSpPr>
        <p:spPr>
          <a:xfrm>
            <a:off x="985191" y="3404954"/>
            <a:ext cx="1644765" cy="1509911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1" name="Text 36">
            <a:extLst>
              <a:ext uri="{FF2B5EF4-FFF2-40B4-BE49-F238E27FC236}">
                <a16:creationId xmlns:a16="http://schemas.microsoft.com/office/drawing/2014/main" id="{6204B49B-A26C-495C-B4C3-31FCF584FE60}"/>
              </a:ext>
            </a:extLst>
          </p:cNvPr>
          <p:cNvSpPr/>
          <p:nvPr/>
        </p:nvSpPr>
        <p:spPr>
          <a:xfrm>
            <a:off x="985191" y="3799733"/>
            <a:ext cx="1625419" cy="1083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spatial features (edges, shapes)</a:t>
            </a:r>
            <a:endParaRPr lang="en-US" sz="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feature maps from raw pixels</a:t>
            </a:r>
            <a:endParaRPr lang="en-US" sz="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spatial dimensions efficiently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82" name="Text 37">
            <a:extLst>
              <a:ext uri="{FF2B5EF4-FFF2-40B4-BE49-F238E27FC236}">
                <a16:creationId xmlns:a16="http://schemas.microsoft.com/office/drawing/2014/main" id="{407D7CA5-65F1-4B6F-92AB-62B678AB92E2}"/>
              </a:ext>
            </a:extLst>
          </p:cNvPr>
          <p:cNvSpPr/>
          <p:nvPr/>
        </p:nvSpPr>
        <p:spPr>
          <a:xfrm>
            <a:off x="985190" y="3519504"/>
            <a:ext cx="162542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</a:rPr>
              <a:t>CNN Roles</a:t>
            </a:r>
            <a:endParaRPr lang="en-US" sz="1100" dirty="0"/>
          </a:p>
        </p:txBody>
      </p:sp>
      <p:sp>
        <p:nvSpPr>
          <p:cNvPr id="86" name="Shape 35">
            <a:extLst>
              <a:ext uri="{FF2B5EF4-FFF2-40B4-BE49-F238E27FC236}">
                <a16:creationId xmlns:a16="http://schemas.microsoft.com/office/drawing/2014/main" id="{95B024A3-C28D-497C-8F51-243F89EA71B4}"/>
              </a:ext>
            </a:extLst>
          </p:cNvPr>
          <p:cNvSpPr/>
          <p:nvPr/>
        </p:nvSpPr>
        <p:spPr>
          <a:xfrm>
            <a:off x="3744049" y="3404954"/>
            <a:ext cx="1644765" cy="1509911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7" name="Text 36">
            <a:extLst>
              <a:ext uri="{FF2B5EF4-FFF2-40B4-BE49-F238E27FC236}">
                <a16:creationId xmlns:a16="http://schemas.microsoft.com/office/drawing/2014/main" id="{7C198C65-D48A-444F-9A4D-71917E88B211}"/>
              </a:ext>
            </a:extLst>
          </p:cNvPr>
          <p:cNvSpPr/>
          <p:nvPr/>
        </p:nvSpPr>
        <p:spPr>
          <a:xfrm>
            <a:off x="3744049" y="3799733"/>
            <a:ext cx="1625419" cy="1083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sequences of CNN outputs</a:t>
            </a:r>
            <a:endParaRPr lang="en-US" sz="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temporal patterns in gestures</a:t>
            </a:r>
            <a:endParaRPr lang="en-US" sz="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Maintains context across frames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88" name="Text 37">
            <a:extLst>
              <a:ext uri="{FF2B5EF4-FFF2-40B4-BE49-F238E27FC236}">
                <a16:creationId xmlns:a16="http://schemas.microsoft.com/office/drawing/2014/main" id="{BB631409-7915-4C6B-821C-5FCEEF0B36DA}"/>
              </a:ext>
            </a:extLst>
          </p:cNvPr>
          <p:cNvSpPr/>
          <p:nvPr/>
        </p:nvSpPr>
        <p:spPr>
          <a:xfrm>
            <a:off x="3744048" y="3519504"/>
            <a:ext cx="162542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</a:rPr>
              <a:t>LSTM Roles</a:t>
            </a:r>
            <a:endParaRPr lang="en-US" sz="1100" dirty="0"/>
          </a:p>
        </p:txBody>
      </p:sp>
      <p:sp>
        <p:nvSpPr>
          <p:cNvPr id="89" name="Shape 35">
            <a:extLst>
              <a:ext uri="{FF2B5EF4-FFF2-40B4-BE49-F238E27FC236}">
                <a16:creationId xmlns:a16="http://schemas.microsoft.com/office/drawing/2014/main" id="{3E00E8D2-EBFC-4496-A7AF-DF0874EF81D1}"/>
              </a:ext>
            </a:extLst>
          </p:cNvPr>
          <p:cNvSpPr/>
          <p:nvPr/>
        </p:nvSpPr>
        <p:spPr>
          <a:xfrm>
            <a:off x="6484255" y="3400471"/>
            <a:ext cx="1644765" cy="1509911"/>
          </a:xfrm>
          <a:prstGeom prst="roundRect">
            <a:avLst>
              <a:gd name="adj" fmla="val 10000"/>
            </a:avLst>
          </a:prstGeom>
          <a:solidFill>
            <a:srgbClr val="11182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0" name="Text 36">
            <a:extLst>
              <a:ext uri="{FF2B5EF4-FFF2-40B4-BE49-F238E27FC236}">
                <a16:creationId xmlns:a16="http://schemas.microsoft.com/office/drawing/2014/main" id="{E0283FDB-F460-42FE-80ED-BDA1F2DE8F6E}"/>
              </a:ext>
            </a:extLst>
          </p:cNvPr>
          <p:cNvSpPr/>
          <p:nvPr/>
        </p:nvSpPr>
        <p:spPr>
          <a:xfrm>
            <a:off x="6484255" y="3795250"/>
            <a:ext cx="1625419" cy="1083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of spatial + temporal learning</a:t>
            </a:r>
            <a:endParaRPr lang="en-US" sz="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accuracy than CNN or LSTM alone</a:t>
            </a:r>
            <a:endParaRPr lang="en-US" sz="8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real-time inference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91" name="Text 37">
            <a:extLst>
              <a:ext uri="{FF2B5EF4-FFF2-40B4-BE49-F238E27FC236}">
                <a16:creationId xmlns:a16="http://schemas.microsoft.com/office/drawing/2014/main" id="{141F9A4D-8D92-4D3E-8C8B-46E328CD2FD2}"/>
              </a:ext>
            </a:extLst>
          </p:cNvPr>
          <p:cNvSpPr/>
          <p:nvPr/>
        </p:nvSpPr>
        <p:spPr>
          <a:xfrm>
            <a:off x="6484254" y="3515021"/>
            <a:ext cx="162542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D4FF"/>
                </a:solidFill>
              </a:rPr>
              <a:t>Hybrid Advantage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290572" cy="246888"/>
          </a:xfrm>
          <a:prstGeom prst="roundRect">
            <a:avLst>
              <a:gd name="adj" fmla="val 1851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22905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RESEARCH · SLIDE 4/10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Strategy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4160520" cy="2743193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17320"/>
            <a:ext cx="4160520" cy="50292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1732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Head-Only Training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109728" cy="109728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0391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backbone fully frozen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96312"/>
            <a:ext cx="109728" cy="109728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450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Dense(128)→Dense(64)→Softmax layers trained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07792"/>
            <a:ext cx="109728" cy="109728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8620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rate: 0.001 (aggressive — head is small)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19272"/>
            <a:ext cx="109728" cy="109728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2735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~5 epochs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730752"/>
            <a:ext cx="109728" cy="109728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" y="36850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Adapt ImageNet features to ASL domain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417320"/>
            <a:ext cx="4160520" cy="2743191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417320"/>
            <a:ext cx="4160520" cy="502920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41732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Fine-Tuning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2084832"/>
            <a:ext cx="109728" cy="109728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01768" y="203911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3 conv blocks of MobileNetV2 unfrozen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2496312"/>
            <a:ext cx="109728" cy="109728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01768" y="245059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threshold: index 125 of 155 total layers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2907792"/>
            <a:ext cx="109728" cy="109728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01768" y="28620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rate: 0.00001 (very conservative)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3319272"/>
            <a:ext cx="109728" cy="109728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01768" y="32735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up to 30 epochs with early stopping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3730752"/>
            <a:ext cx="109728" cy="109728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01768" y="36850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Nudge backbone toward hand gesture patterns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" y="4409693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Transfer Learning?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0040" y="4592573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training time  ·  Better performance with limited data  ·  Leverages 1.2M ImageNet examples  ·  Achieves 95–98% val accuracy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290572" cy="246888"/>
          </a:xfrm>
          <a:prstGeom prst="roundRect">
            <a:avLst>
              <a:gd name="adj" fmla="val 1851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22905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RESEARCH · SLIDE 5/10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28346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9768" y="1527048"/>
            <a:ext cx="384048" cy="38404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54533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Checks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 (perceptual hashing), corrupted images, bad lighting. Verify accurate labelling for visually similar signs.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64408" y="1417320"/>
            <a:ext cx="28346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74136" y="1527048"/>
            <a:ext cx="384048" cy="384048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4136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58768" y="154533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Detection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01568" y="187452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hand landmarks &amp; crop bounding boxes. Focus model attention on hand — removes background clutter.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08776" y="1417320"/>
            <a:ext cx="28346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18504" y="1527048"/>
            <a:ext cx="384048" cy="384048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18504" y="1527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03136" y="154533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&amp; Normalize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45936" y="187452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all to 224×224px. Normalize pixel values 0→1 for neural network consistency.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108960"/>
            <a:ext cx="28346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" y="3218688"/>
            <a:ext cx="384048" cy="384048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23697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&amp; Sharpening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56616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 equalization for contrast, Gaussian blur for noise, edge sharpening for feature clarity.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64408" y="3108960"/>
            <a:ext cx="28346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74136" y="3218688"/>
            <a:ext cx="384048" cy="384048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74136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58768" y="323697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 Split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01568" y="356616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training, 15% validation, 15% testing — ensures unbiased performance evaluation.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08776" y="3108960"/>
            <a:ext cx="283464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18504" y="3218688"/>
            <a:ext cx="384048" cy="384048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18504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803136" y="323697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Capture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45936" y="356616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video collection at 30 FPS for continuous gesture sequences.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290572" cy="246888"/>
          </a:xfrm>
          <a:prstGeom prst="roundRect">
            <a:avLst>
              <a:gd name="adj" fmla="val 1851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22905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RESEARCH · SLIDE 6/10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Processing Pipeline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9020" y="1463040"/>
            <a:ext cx="1170432" cy="1005840"/>
          </a:xfrm>
          <a:prstGeom prst="rect">
            <a:avLst/>
          </a:prstGeom>
          <a:solidFill>
            <a:srgbClr val="1565C0">
              <a:alpha val="8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4740" y="1508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99020" y="1719072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Input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9020" y="2130552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FPS stream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469452" y="1965960"/>
            <a:ext cx="64008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33460" y="1463040"/>
            <a:ext cx="1170432" cy="1005840"/>
          </a:xfrm>
          <a:prstGeom prst="rect">
            <a:avLst/>
          </a:prstGeom>
          <a:solidFill>
            <a:srgbClr val="7B5EA7">
              <a:alpha val="80000"/>
            </a:srgbClr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79180" y="1508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533460" y="1719072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Detection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33460" y="2130552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Landmarks + BBox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03892" y="1965960"/>
            <a:ext cx="64008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67900" y="1463040"/>
            <a:ext cx="1170432" cy="1005840"/>
          </a:xfrm>
          <a:prstGeom prst="rect">
            <a:avLst/>
          </a:prstGeom>
          <a:solidFill>
            <a:srgbClr val="39D353">
              <a:alpha val="80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13620" y="1508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67900" y="1719072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67900" y="2130552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Crop, 224×224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sub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938332" y="1965960"/>
            <a:ext cx="64008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002340" y="1463040"/>
            <a:ext cx="1170432" cy="1005840"/>
          </a:xfrm>
          <a:prstGeom prst="rect">
            <a:avLst/>
          </a:prstGeom>
          <a:solidFill>
            <a:srgbClr val="F78166">
              <a:alpha val="80000"/>
            </a:srgbClr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48060" y="1508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002340" y="1719072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Feature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002340" y="2130552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features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172772" y="1965960"/>
            <a:ext cx="64008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36780" y="1463040"/>
            <a:ext cx="1170432" cy="1005840"/>
          </a:xfrm>
          <a:prstGeom prst="rect">
            <a:avLst/>
          </a:prstGeom>
          <a:solidFill>
            <a:srgbClr val="00BCD4">
              <a:alpha val="8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2500" y="1508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36780" y="1719072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Temporal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236780" y="2130552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128→64 units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model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407212" y="1965960"/>
            <a:ext cx="64008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71220" y="1463040"/>
            <a:ext cx="1170432" cy="1005840"/>
          </a:xfrm>
          <a:prstGeom prst="rect">
            <a:avLst/>
          </a:prstGeom>
          <a:solidFill>
            <a:srgbClr val="E3B341">
              <a:alpha val="80000"/>
            </a:srgbClr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16940" y="1508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71220" y="1719072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71220" y="2130552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conf&gt;0.8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voting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641652" y="1965960"/>
            <a:ext cx="64008" cy="0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705660" y="1463040"/>
            <a:ext cx="1170432" cy="1005840"/>
          </a:xfrm>
          <a:prstGeom prst="rect">
            <a:avLst/>
          </a:prstGeom>
          <a:solidFill>
            <a:srgbClr val="8B0000">
              <a:alpha val="80000"/>
            </a:srgbClr>
          </a:solidFill>
          <a:ln w="12700">
            <a:solidFill>
              <a:srgbClr val="8B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51380" y="1508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05660" y="1719072"/>
            <a:ext cx="1170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705660" y="2130552"/>
            <a:ext cx="1170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TTS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99020" y="2627590"/>
            <a:ext cx="1645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9020" y="270074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&gt;25 FPS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299020" y="313051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Speed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036380" y="2627590"/>
            <a:ext cx="1645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036380" y="270074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2036380" y="313051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Latency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773740" y="2627590"/>
            <a:ext cx="1645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73740" y="270074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conf&gt;0.8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3773740" y="313051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511100" y="2627590"/>
            <a:ext cx="1645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11100" y="270074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5-frame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5511100" y="313051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Buffer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248460" y="2627590"/>
            <a:ext cx="164592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48460" y="2700742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7248460" y="313051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Accelerated</a:t>
            </a:r>
            <a:endParaRPr lang="en-US" sz="1000" dirty="0"/>
          </a:p>
        </p:txBody>
      </p:sp>
      <p:sp>
        <p:nvSpPr>
          <p:cNvPr id="82" name="Shape 4">
            <a:extLst>
              <a:ext uri="{FF2B5EF4-FFF2-40B4-BE49-F238E27FC236}">
                <a16:creationId xmlns:a16="http://schemas.microsoft.com/office/drawing/2014/main" id="{42B3BC69-401C-42EA-9243-6EDED22C68BB}"/>
              </a:ext>
            </a:extLst>
          </p:cNvPr>
          <p:cNvSpPr/>
          <p:nvPr/>
        </p:nvSpPr>
        <p:spPr>
          <a:xfrm>
            <a:off x="299020" y="4039028"/>
            <a:ext cx="4160520" cy="652002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  <p:txBody>
          <a:bodyPr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captured at 30 FPS via webcam/camera</a:t>
            </a:r>
            <a:endParaRPr lang="en-US" sz="11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buffer of 5 frames for stable detection</a:t>
            </a:r>
            <a:endParaRPr lang="en-US" sz="11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predictions ≥ 80% confidence accepted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3" name="Shape 5">
            <a:extLst>
              <a:ext uri="{FF2B5EF4-FFF2-40B4-BE49-F238E27FC236}">
                <a16:creationId xmlns:a16="http://schemas.microsoft.com/office/drawing/2014/main" id="{A8461FE5-6A53-4D2F-B3E3-1A0EFF2F1724}"/>
              </a:ext>
            </a:extLst>
          </p:cNvPr>
          <p:cNvSpPr/>
          <p:nvPr/>
        </p:nvSpPr>
        <p:spPr>
          <a:xfrm>
            <a:off x="299019" y="3709360"/>
            <a:ext cx="4160520" cy="320040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84" name="Text 6">
            <a:extLst>
              <a:ext uri="{FF2B5EF4-FFF2-40B4-BE49-F238E27FC236}">
                <a16:creationId xmlns:a16="http://schemas.microsoft.com/office/drawing/2014/main" id="{07DE40DD-9E80-478F-9BFA-38BE9ECB8D55}"/>
              </a:ext>
            </a:extLst>
          </p:cNvPr>
          <p:cNvSpPr/>
          <p:nvPr/>
        </p:nvSpPr>
        <p:spPr>
          <a:xfrm>
            <a:off x="390460" y="3604116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and Buffering</a:t>
            </a:r>
            <a:endParaRPr lang="en-US" sz="1300" dirty="0"/>
          </a:p>
        </p:txBody>
      </p:sp>
      <p:sp>
        <p:nvSpPr>
          <p:cNvPr id="95" name="Shape 17">
            <a:extLst>
              <a:ext uri="{FF2B5EF4-FFF2-40B4-BE49-F238E27FC236}">
                <a16:creationId xmlns:a16="http://schemas.microsoft.com/office/drawing/2014/main" id="{11EA4926-A052-481C-81F7-D8D90C5C4BA3}"/>
              </a:ext>
            </a:extLst>
          </p:cNvPr>
          <p:cNvSpPr/>
          <p:nvPr/>
        </p:nvSpPr>
        <p:spPr>
          <a:xfrm>
            <a:off x="4642422" y="3700700"/>
            <a:ext cx="4251958" cy="998402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96" name="Shape 18">
            <a:extLst>
              <a:ext uri="{FF2B5EF4-FFF2-40B4-BE49-F238E27FC236}">
                <a16:creationId xmlns:a16="http://schemas.microsoft.com/office/drawing/2014/main" id="{EB8D4A95-0FB8-456E-B05F-3B423E9D1766}"/>
              </a:ext>
            </a:extLst>
          </p:cNvPr>
          <p:cNvSpPr/>
          <p:nvPr/>
        </p:nvSpPr>
        <p:spPr>
          <a:xfrm>
            <a:off x="4642422" y="3700699"/>
            <a:ext cx="4251958" cy="313461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97" name="Text 19">
            <a:extLst>
              <a:ext uri="{FF2B5EF4-FFF2-40B4-BE49-F238E27FC236}">
                <a16:creationId xmlns:a16="http://schemas.microsoft.com/office/drawing/2014/main" id="{0D741C15-BF0D-49FD-B6B0-CF2C97848CBA}"/>
              </a:ext>
            </a:extLst>
          </p:cNvPr>
          <p:cNvSpPr/>
          <p:nvPr/>
        </p:nvSpPr>
        <p:spPr>
          <a:xfrm>
            <a:off x="4794294" y="3625991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 and Output</a:t>
            </a:r>
            <a:endParaRPr lang="en-US" sz="1300" dirty="0"/>
          </a:p>
        </p:txBody>
      </p:sp>
      <p:sp>
        <p:nvSpPr>
          <p:cNvPr id="108" name="Text 25">
            <a:extLst>
              <a:ext uri="{FF2B5EF4-FFF2-40B4-BE49-F238E27FC236}">
                <a16:creationId xmlns:a16="http://schemas.microsoft.com/office/drawing/2014/main" id="{C4C26DC6-C208-464B-8F90-F01618A8B3AF}"/>
              </a:ext>
            </a:extLst>
          </p:cNvPr>
          <p:cNvSpPr/>
          <p:nvPr/>
        </p:nvSpPr>
        <p:spPr>
          <a:xfrm>
            <a:off x="4724716" y="4016976"/>
            <a:ext cx="3858768" cy="6821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smoothing reduces flickering predictions</a:t>
            </a:r>
            <a:endParaRPr lang="en-US" sz="11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 consistently below 75ms</a:t>
            </a:r>
            <a:endParaRPr lang="en-US" sz="11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threshold for noisy environments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290572" cy="246888"/>
          </a:xfrm>
          <a:prstGeom prst="roundRect">
            <a:avLst>
              <a:gd name="adj" fmla="val 1851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22905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RESEARCH · SLIDE 7/10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Results — Accuracy &amp; Benchmarks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320040" y="1417320"/>
          <a:ext cx="502920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532120" y="14173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Recognition Results (Paper)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1810512"/>
          <a:ext cx="3017520" cy="263347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A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9D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9D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3B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3B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3B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3B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9D35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320040" y="459028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sign recognition target: &gt;95%  ·  Dynamic gesture target: &gt;90%  ·  Proposed model: 96% accuracy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290572" cy="246888"/>
          </a:xfrm>
          <a:prstGeom prst="roundRect">
            <a:avLst>
              <a:gd name="adj" fmla="val 1851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22905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RESEARCH · SLIDE 8/10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Mechanism &amp; Post-Processing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4160520" cy="1627632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270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Attention Mechanism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" y="1965960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9202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Focuses on most important hand regions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" y="2221992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17627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unnecessary computations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4632" y="2478024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323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recognition for similar gestures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" y="2734056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68833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over spatial feature maps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417320"/>
            <a:ext cx="4160520" cy="1627632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5270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Frame Buffering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28032" y="1965960"/>
            <a:ext cx="109728" cy="109728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9202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of 5 frames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28032" y="2221992"/>
            <a:ext cx="109728" cy="109728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17627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batch processing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28032" y="2478024"/>
            <a:ext cx="109728" cy="109728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4323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latency spikes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28032" y="2734056"/>
            <a:ext cx="109728" cy="109728"/>
          </a:xfrm>
          <a:prstGeom prst="ellipse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68833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consistency maintained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154680"/>
            <a:ext cx="4160520" cy="1627632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2644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Confidence Scoring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4632" y="3703320"/>
            <a:ext cx="109728" cy="109728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365760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conf &gt; 0.80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" y="3959352"/>
            <a:ext cx="109728" cy="109728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9136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smoothing via weighted voting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" y="4215384"/>
            <a:ext cx="109728" cy="109728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416966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noise &amp; false positives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" y="4471416"/>
            <a:ext cx="109728" cy="109728"/>
          </a:xfrm>
          <a:prstGeom prst="ellipse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442569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Stable, reliable predictions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63440" y="3154680"/>
            <a:ext cx="4160520" cy="1627632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26440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Post-Processing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828032" y="3703320"/>
            <a:ext cx="109728" cy="109728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365760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completion detection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28032" y="3959352"/>
            <a:ext cx="109728" cy="109728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0" y="39136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Context-based word prediction (LM)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28032" y="4215384"/>
            <a:ext cx="109728" cy="109728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416966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TTS + offline pyttsx3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828032" y="4471416"/>
            <a:ext cx="109728" cy="109728"/>
          </a:xfrm>
          <a:prstGeom prst="ellipse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442569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translation APIs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290572" cy="246888"/>
          </a:xfrm>
          <a:prstGeom prst="roundRect">
            <a:avLst>
              <a:gd name="adj" fmla="val 1851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22905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RESEARCH · SLIDE 9/10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&amp; Accessibility Design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2816352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17320"/>
            <a:ext cx="2816352" cy="384048"/>
          </a:xfrm>
          <a:prstGeom prst="rect">
            <a:avLst/>
          </a:prstGeom>
          <a:solidFill>
            <a:srgbClr val="00E5FF">
              <a:alpha val="3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48132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Feed Panel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9768" y="187452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webcam video with MediaPipe hand landmark overlay. Bounding boxes highlight detected hand regions.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417320"/>
            <a:ext cx="2816352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417320"/>
            <a:ext cx="2816352" cy="384048"/>
          </a:xfrm>
          <a:prstGeom prst="rect">
            <a:avLst/>
          </a:prstGeom>
          <a:solidFill>
            <a:srgbClr val="39D353">
              <a:alpha val="30000"/>
            </a:srgbClr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55848" y="148132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Text Output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55848" y="187452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text panel updates with recognized signs, confidence scores, and timestamps for user feedback.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1417320"/>
            <a:ext cx="2816352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816352" cy="384048"/>
          </a:xfrm>
          <a:prstGeom prst="rect">
            <a:avLst/>
          </a:prstGeom>
          <a:solidFill>
            <a:srgbClr val="E3B341">
              <a:alpha val="30000"/>
            </a:srgbClr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81928" y="148132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81928" y="187452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50+ languages. Automatic detection and selection. Google TTS online + pyttsx3 offline fallback.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108960"/>
            <a:ext cx="2816352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108960"/>
            <a:ext cx="2816352" cy="384048"/>
          </a:xfrm>
          <a:prstGeom prst="rect">
            <a:avLst/>
          </a:prstGeom>
          <a:solidFill>
            <a:srgbClr val="F78166">
              <a:alpha val="30000"/>
            </a:srgbClr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" y="317296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Customization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29768" y="35661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adjust speech rate, pitch, accents, and language via the settings panel.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46120" y="3108960"/>
            <a:ext cx="2816352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46120" y="3108960"/>
            <a:ext cx="2816352" cy="384048"/>
          </a:xfrm>
          <a:prstGeom prst="rect">
            <a:avLst/>
          </a:prstGeom>
          <a:solidFill>
            <a:srgbClr val="7B5EA7">
              <a:alpha val="30000"/>
            </a:srgbClr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55848" y="317296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Overlays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55848" y="35661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boundaries highlighted in real time. Confidence bar displayed alongside the current detected letter.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72200" y="3108960"/>
            <a:ext cx="2816352" cy="1572768"/>
          </a:xfrm>
          <a:prstGeom prst="rect">
            <a:avLst/>
          </a:prstGeom>
          <a:solidFill>
            <a:srgbClr val="161B22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72200" y="3108960"/>
            <a:ext cx="2816352" cy="384048"/>
          </a:xfrm>
          <a:prstGeom prst="rect">
            <a:avLst/>
          </a:prstGeom>
          <a:solidFill>
            <a:srgbClr val="00BCD4">
              <a:alpha val="30000"/>
            </a:srgbClr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3172968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Recovery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81928" y="3566160"/>
            <a:ext cx="2606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structure with auto-recovery to maintain performance even in challenging conditions.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770632" cy="246888"/>
          </a:xfrm>
          <a:prstGeom prst="roundRect">
            <a:avLst>
              <a:gd name="adj" fmla="val 1851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2770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IMPLEMENTATION · SLIDE 1/6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Training Code — train_sign_cnn.py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3477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651762"/>
            <a:ext cx="850392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07210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76149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transfer learning (ImageNet pretrained) — exactly as described in paper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154682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10896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Frozen backbone, trains Dense(128)→Dropout(0.3)→Dense(64)→Dropout(0.2)→Softmax head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02154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45643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Unfreeze last 30 layers (layer index 125+), fine-tune at lr=0.00001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49626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80390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generators use preprocess_input() (scales to [-1,1]) — NOT /255.0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197098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15137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horizontal flip augmentation — ASL signs are handed (J, Z differ from mirror)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44570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49885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EarlyStopping + ReduceLROnPlateau + ModelCheckpoint callbacks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92042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" y="384632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87,000 images, 29 classes, 224×224 input, batch size 64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4321810"/>
            <a:ext cx="850392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321810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Config:  IMG_SIZE=224  ·  BATCH_SIZE=64  ·  FINE_TUNE_AT=125  ·  Phase1 lr=0.001  ·  Phase2 lr=0.00001  ·  NUM_CLASSES=26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770632" cy="246888"/>
          </a:xfrm>
          <a:prstGeom prst="roundRect">
            <a:avLst>
              <a:gd name="adj" fmla="val 1851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2770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IMPLEMENTATION · SLIDE 2/6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7879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Realtime Detection — realtime_sign.py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62990"/>
            <a:ext cx="8503920" cy="0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95070"/>
            <a:ext cx="416052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8651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White-Canvas Preprocessing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59740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ROI placed on white 96×96 canvas (aspect-ratio preserving) — matches training distribution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195070"/>
            <a:ext cx="416052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73168" y="128651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Rolling Prediction Buffer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73168" y="159740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10 frames in deque. Most-voted class over window gives smoothed, stable prediction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383790"/>
            <a:ext cx="416052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247523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Debounce State Machine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" y="278612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letter must dominate for MIN_CONSISTENT=8 frames before accepted. Prevents flickering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2383790"/>
            <a:ext cx="416052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247523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Cooldown Timer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73168" y="278612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1.5s cooldown between letter registrations. Prevents same letter being accepted multiple times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572510"/>
            <a:ext cx="416052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366395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Word Builder + TTS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" y="397484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→ word. SPACE speaks full word. BKSP deletes last letter. C clears all. pyttsx3 in daemon thread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572510"/>
            <a:ext cx="416052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366395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HUD Overlay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73168" y="3974846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Semi-transparent overlay with: detected letter (large), confidence bar (color-coded), word-so-far, sentence history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4789170"/>
            <a:ext cx="8503920" cy="228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78917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Controls: Q=quit  ·  SPACE=speak word  ·  BACKSPACE=delete letter  ·  C=clear all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770632" cy="246888"/>
          </a:xfrm>
          <a:prstGeom prst="roundRect">
            <a:avLst>
              <a:gd name="adj" fmla="val 1851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2770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IMPLEMENTATION · SLIDE 3/6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Followed from the Paper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8503920" cy="347472"/>
          </a:xfrm>
          <a:prstGeom prst="rect">
            <a:avLst/>
          </a:prstGeom>
          <a:solidFill>
            <a:srgbClr val="0A2010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Areas Where Our Implementation Matches the Research Paper Exactly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901952"/>
            <a:ext cx="54864" cy="29260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938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1929384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pretrained on ImageNet — identical choice as paper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231136"/>
            <a:ext cx="54864" cy="29260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5856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Architecture: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2258568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Dense(128) → Dropout(0.3) → Dense(64) → Dropout(0.2) → Softmax — exact match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560320"/>
            <a:ext cx="54864" cy="29260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8775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Strategy: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2587752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Two-phase: frozen head-only training → unfreeze last 3 convolutional blocks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889504"/>
            <a:ext cx="54864" cy="29260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1693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03120" y="2916936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±15° rotation, 10% shift, 90–110% zoom, ±20% brightness — same values as paper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218688"/>
            <a:ext cx="54864" cy="29260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46120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Integration: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03120" y="3246120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landmark detection and bounding box cropping as described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547872"/>
            <a:ext cx="54864" cy="29260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57530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03120" y="3575304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0.75–0.80 confidence minimum before accepting predictions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877056"/>
            <a:ext cx="54864" cy="29260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904488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Smoothing: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03120" y="3904488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window of frames with majority voting for stable predictions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206240"/>
            <a:ext cx="54864" cy="29260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233672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Output: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03120" y="4233672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pyttsx3 for offline text-to-speech, as referenced in the paper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0040" y="4535424"/>
            <a:ext cx="54864" cy="29260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562856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103120" y="4562856"/>
            <a:ext cx="6675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Kaggle ASL Alphabet dataset — 87,000 images, 29 classes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770632" cy="246888"/>
          </a:xfrm>
          <a:prstGeom prst="roundRect">
            <a:avLst>
              <a:gd name="adj" fmla="val 1851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2770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IMPLEMENTATION · SLIDE 4/6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Did Differently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8503920" cy="347472"/>
          </a:xfrm>
          <a:prstGeom prst="rect">
            <a:avLst/>
          </a:prstGeom>
          <a:solidFill>
            <a:srgbClr val="201008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Our Practical Modifications &amp; Improvements Over the Paper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901952"/>
            <a:ext cx="850392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938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224×224 input size (paper standard)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26280" y="1938528"/>
            <a:ext cx="0" cy="292608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92938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Code: 96×96 white-canvas preprocessing in realtime (faster inference)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304288"/>
            <a:ext cx="850392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3172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Simple frame predictions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26280" y="2340864"/>
            <a:ext cx="0" cy="292608"/>
          </a:xfrm>
          <a:prstGeom prst="line">
            <a:avLst/>
          </a:prstGeom>
          <a:noFill/>
          <a:ln w="12700">
            <a:solidFill>
              <a:srgbClr val="39D3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33172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Code: Deque-based 10-frame rolling buffer with smoothed majority voting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706624"/>
            <a:ext cx="850392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73405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General confidence threshold 0.8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26280" y="2743200"/>
            <a:ext cx="0" cy="292608"/>
          </a:xfrm>
          <a:prstGeom prst="line">
            <a:avLst/>
          </a:prstGeom>
          <a:noFill/>
          <a:ln w="12700">
            <a:solidFill>
              <a:srgbClr val="E3B34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734056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Code: Dual threshold: conf≥0.75 AND 8-frame consistency (MIN_CONSISTENT)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3108960"/>
            <a:ext cx="850392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36392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No debounce mentioned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26280" y="3145536"/>
            <a:ext cx="0" cy="292608"/>
          </a:xfrm>
          <a:prstGeom prst="line">
            <a:avLst/>
          </a:prstGeom>
          <a:noFill/>
          <a:ln w="12700">
            <a:solidFill>
              <a:srgbClr val="F78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63440" y="3136392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Code: 1.5s cooldown timer between letter registrations (prevents duplicates)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511296"/>
            <a:ext cx="850392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53872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Basic TTS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26280" y="3547872"/>
            <a:ext cx="0" cy="292608"/>
          </a:xfrm>
          <a:prstGeom prst="line">
            <a:avLst/>
          </a:prstGeom>
          <a:noFill/>
          <a:ln w="12700">
            <a:solidFill>
              <a:srgbClr val="7B5E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3538728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Code: Non-blocking TTS via Python daemon thread (no UI freeze)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913632"/>
            <a:ext cx="850392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94106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Focus on static alphabet (A–Z)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26280" y="3950208"/>
            <a:ext cx="0" cy="292608"/>
          </a:xfrm>
          <a:prstGeom prst="line">
            <a:avLst/>
          </a:prstGeom>
          <a:noFill/>
          <a:ln w="12700">
            <a:solidFill>
              <a:srgbClr val="00BC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941064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Code: 26-class model (A–Z), excluded del/nothing/space for cleaner word building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315968"/>
            <a:ext cx="850392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F0629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34340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Standard CNN HUD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26280" y="4352544"/>
            <a:ext cx="0" cy="292608"/>
          </a:xfrm>
          <a:prstGeom prst="line">
            <a:avLst/>
          </a:prstGeom>
          <a:noFill/>
          <a:ln w="12700">
            <a:solidFill>
              <a:srgbClr val="F0629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4343400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Code: Full HUD: confidence bar with color coding, ROI preview window, sentence history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098548" cy="246888"/>
          </a:xfrm>
          <a:prstGeom prst="roundRect">
            <a:avLst>
              <a:gd name="adj" fmla="val 1851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20985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OUTPUTS · SLIDE 1/3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Outputs &amp; Performance Metrics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201168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8132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20848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Accuracy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31343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final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96312" y="1417320"/>
            <a:ext cx="201168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148132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~94%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96312" y="20848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Accuracy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96312" y="231343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checkpoint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72584" y="1417320"/>
            <a:ext cx="201168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148132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FPS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72584" y="20848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Speed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72584" y="231343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GPU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48856" y="1417320"/>
            <a:ext cx="201168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48856" y="148132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848856" y="208483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48856" y="231343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743199"/>
            <a:ext cx="8503920" cy="1790691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816352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Curve (2-Phase Plot — training_curves.png)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218688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3172968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(Epochs 1–5): Rapid accuracy gain as Dense head learns ASL-specific features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474720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" y="3429000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(Epochs 6–35): Gradual improvement as backbone fine-tunes — more stable curves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730752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3685032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dashed line marks the phase boundary on both Accuracy and Loss plots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986784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" y="3941064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accuracy closely tracks train accuracy — minimal overfitting due to Dropout + augmentation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242816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4197096"/>
            <a:ext cx="8046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halves LR when stuck — keeps training progressing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0040" y="464515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Val accuracy 88–92% after Phase 1  ·  95–98% after Phase 2  ·  85–93% in realtime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098548" cy="246888"/>
          </a:xfrm>
          <a:prstGeom prst="roundRect">
            <a:avLst>
              <a:gd name="adj" fmla="val 1851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20985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OUTPUTS · SLIDE 2/3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 System — Live Demo Output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530352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813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 Camera Feed (Live Preview)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1810512"/>
            <a:ext cx="5120640" cy="2560320"/>
          </a:xfrm>
          <a:prstGeom prst="rect">
            <a:avLst/>
          </a:prstGeom>
          <a:solidFill>
            <a:srgbClr val="0A0A18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1810512"/>
            <a:ext cx="5120640" cy="777240"/>
          </a:xfrm>
          <a:prstGeom prst="rect">
            <a:avLst/>
          </a:prstGeom>
          <a:solidFill>
            <a:srgbClr val="14141E">
              <a:alpha val="70000"/>
            </a:srgbClr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47088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1463040" y="2148840"/>
            <a:ext cx="2286000" cy="201168"/>
          </a:xfrm>
          <a:prstGeom prst="rect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63040" y="2148840"/>
            <a:ext cx="1920240" cy="20116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67328" y="214884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24231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Word: HELLO_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4133088"/>
            <a:ext cx="4663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[SPACE] speak  [BKSP] delete  [C] clear  [Q] quit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46320" y="1828800"/>
            <a:ext cx="731520" cy="731520"/>
          </a:xfrm>
          <a:prstGeom prst="rect">
            <a:avLst/>
          </a:prstGeom>
          <a:solidFill>
            <a:srgbClr val="F0F0F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2560320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852160" y="1417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Features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5216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Detection: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60920" y="1828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A–Z gesture classification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52160" y="222199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Bar: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60920" y="222199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Color: green&gt;80%, yellow&gt;60%, red&lt;60%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852160" y="261518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Builder: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60920" y="261518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 assembled into words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852160" y="300837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Speak: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60920" y="300837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= speak current word via pyttsx3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852160" y="34015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Smoothing: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60920" y="34015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10-frame rolling buffer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852160" y="37947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360920" y="37947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8-frame consistency + 1.5s cooldown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52160" y="41879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Preview: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60920" y="41879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Top-right mini view of model input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852160" y="458114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Log: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60920" y="458114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5 words shown at bottom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386584" cy="246888"/>
          </a:xfrm>
          <a:prstGeom prst="roundRect">
            <a:avLst>
              <a:gd name="adj" fmla="val 1851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23865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LOGIC · SLIDE 1/1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&amp; State Machine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</a:ln>
        </p:spPr>
      </p:sp>
      <p:sp>
        <p:nvSpPr>
          <p:cNvPr id="36" name="Shape 4">
            <a:extLst>
              <a:ext uri="{FF2B5EF4-FFF2-40B4-BE49-F238E27FC236}">
                <a16:creationId xmlns:a16="http://schemas.microsoft.com/office/drawing/2014/main" id="{0503016B-D1DF-4F82-A7A7-3B68C7BDD5BE}"/>
              </a:ext>
            </a:extLst>
          </p:cNvPr>
          <p:cNvSpPr/>
          <p:nvPr/>
        </p:nvSpPr>
        <p:spPr>
          <a:xfrm>
            <a:off x="1778346" y="1463040"/>
            <a:ext cx="2011680" cy="1005840"/>
          </a:xfrm>
          <a:prstGeom prst="ellipse">
            <a:avLst/>
          </a:prstGeom>
          <a:solidFill>
            <a:srgbClr val="0EA5E9">
              <a:alpha val="75000"/>
            </a:srgbClr>
          </a:solidFill>
          <a:ln w="25400">
            <a:solidFill>
              <a:srgbClr val="0EA5E9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Text 5">
            <a:extLst>
              <a:ext uri="{FF2B5EF4-FFF2-40B4-BE49-F238E27FC236}">
                <a16:creationId xmlns:a16="http://schemas.microsoft.com/office/drawing/2014/main" id="{1F7DCB0B-9647-414A-AFBF-CB02E74E18F1}"/>
              </a:ext>
            </a:extLst>
          </p:cNvPr>
          <p:cNvSpPr/>
          <p:nvPr/>
        </p:nvSpPr>
        <p:spPr>
          <a:xfrm>
            <a:off x="1778346" y="14630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IDLE</a:t>
            </a:r>
            <a:endParaRPr lang="en-US" sz="2000" dirty="0"/>
          </a:p>
        </p:txBody>
      </p:sp>
      <p:sp>
        <p:nvSpPr>
          <p:cNvPr id="38" name="Shape 6">
            <a:extLst>
              <a:ext uri="{FF2B5EF4-FFF2-40B4-BE49-F238E27FC236}">
                <a16:creationId xmlns:a16="http://schemas.microsoft.com/office/drawing/2014/main" id="{8E0F1DFC-8B9C-49DB-ADC3-2E92B9CC158A}"/>
              </a:ext>
            </a:extLst>
          </p:cNvPr>
          <p:cNvSpPr/>
          <p:nvPr/>
        </p:nvSpPr>
        <p:spPr>
          <a:xfrm>
            <a:off x="3790026" y="1965960"/>
            <a:ext cx="1280160" cy="0"/>
          </a:xfrm>
          <a:prstGeom prst="line">
            <a:avLst/>
          </a:prstGeom>
          <a:noFill/>
          <a:ln w="25400">
            <a:solidFill>
              <a:srgbClr val="00D4FF"/>
            </a:solidFill>
            <a:prstDash val="solid"/>
          </a:ln>
        </p:spPr>
      </p:sp>
      <p:sp>
        <p:nvSpPr>
          <p:cNvPr id="39" name="Text 7">
            <a:extLst>
              <a:ext uri="{FF2B5EF4-FFF2-40B4-BE49-F238E27FC236}">
                <a16:creationId xmlns:a16="http://schemas.microsoft.com/office/drawing/2014/main" id="{4734B22A-020E-4E62-AC04-E17EC8DA0E5D}"/>
              </a:ext>
            </a:extLst>
          </p:cNvPr>
          <p:cNvSpPr/>
          <p:nvPr/>
        </p:nvSpPr>
        <p:spPr>
          <a:xfrm>
            <a:off x="3808314" y="16459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</a:rPr>
              <a:t>smoothed ≥ 0.80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00D4FF"/>
                </a:solidFill>
              </a:rPr>
              <a:t>+ 60% buffer vote</a:t>
            </a:r>
            <a:endParaRPr lang="en-US" sz="750" dirty="0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3FB49762-75AA-4E5B-9EBF-8069FAC18AE6}"/>
              </a:ext>
            </a:extLst>
          </p:cNvPr>
          <p:cNvSpPr/>
          <p:nvPr/>
        </p:nvSpPr>
        <p:spPr>
          <a:xfrm>
            <a:off x="3808314" y="20574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10B981"/>
                </a:solidFill>
              </a:rPr>
              <a:t>→  ADDS LETTER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0B981"/>
                </a:solidFill>
              </a:rPr>
              <a:t>→  SPEAKS IT</a:t>
            </a:r>
            <a:endParaRPr lang="en-US" sz="750" dirty="0"/>
          </a:p>
        </p:txBody>
      </p:sp>
      <p:sp>
        <p:nvSpPr>
          <p:cNvPr id="41" name="Shape 9">
            <a:extLst>
              <a:ext uri="{FF2B5EF4-FFF2-40B4-BE49-F238E27FC236}">
                <a16:creationId xmlns:a16="http://schemas.microsoft.com/office/drawing/2014/main" id="{502177F1-C426-473D-8027-0C656E5C8CBA}"/>
              </a:ext>
            </a:extLst>
          </p:cNvPr>
          <p:cNvSpPr/>
          <p:nvPr/>
        </p:nvSpPr>
        <p:spPr>
          <a:xfrm>
            <a:off x="5070186" y="1463040"/>
            <a:ext cx="2011680" cy="1005840"/>
          </a:xfrm>
          <a:prstGeom prst="ellipse">
            <a:avLst/>
          </a:prstGeom>
          <a:solidFill>
            <a:srgbClr val="7C3AED">
              <a:alpha val="75000"/>
            </a:srgbClr>
          </a:solidFill>
          <a:ln w="25400">
            <a:solidFill>
              <a:srgbClr val="7C3AED"/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BF3BC106-A0A9-4D40-AAE5-4676FFCA6459}"/>
              </a:ext>
            </a:extLst>
          </p:cNvPr>
          <p:cNvSpPr/>
          <p:nvPr/>
        </p:nvSpPr>
        <p:spPr>
          <a:xfrm>
            <a:off x="5070186" y="1463040"/>
            <a:ext cx="2011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LOCKED</a:t>
            </a:r>
            <a:endParaRPr lang="en-US" sz="2000" dirty="0"/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9CD5FDD0-5AFA-4D5F-8534-DEAAAA124F35}"/>
              </a:ext>
            </a:extLst>
          </p:cNvPr>
          <p:cNvSpPr/>
          <p:nvPr/>
        </p:nvSpPr>
        <p:spPr>
          <a:xfrm>
            <a:off x="5070186" y="2468880"/>
            <a:ext cx="0" cy="54864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8E5B8075-B299-4DC4-96BD-DA34E0C78937}"/>
              </a:ext>
            </a:extLst>
          </p:cNvPr>
          <p:cNvSpPr/>
          <p:nvPr/>
        </p:nvSpPr>
        <p:spPr>
          <a:xfrm>
            <a:off x="3808314" y="26517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59E0B"/>
                </a:solidFill>
              </a:rPr>
              <a:t>different sign</a:t>
            </a:r>
            <a:endParaRPr lang="en-US" sz="75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F59E0B"/>
                </a:solidFill>
              </a:rPr>
              <a:t>or no hand</a:t>
            </a:r>
            <a:endParaRPr lang="en-US" sz="750" dirty="0"/>
          </a:p>
        </p:txBody>
      </p:sp>
      <p:sp>
        <p:nvSpPr>
          <p:cNvPr id="45" name="Shape 13">
            <a:extLst>
              <a:ext uri="{FF2B5EF4-FFF2-40B4-BE49-F238E27FC236}">
                <a16:creationId xmlns:a16="http://schemas.microsoft.com/office/drawing/2014/main" id="{7F6FFD0A-81DD-4FD3-BE1F-8A5ACCA3229C}"/>
              </a:ext>
            </a:extLst>
          </p:cNvPr>
          <p:cNvSpPr/>
          <p:nvPr/>
        </p:nvSpPr>
        <p:spPr>
          <a:xfrm>
            <a:off x="6215818" y="2651760"/>
            <a:ext cx="2651760" cy="2293463"/>
          </a:xfrm>
          <a:prstGeom prst="roundRect">
            <a:avLst>
              <a:gd name="adj" fmla="val 4138"/>
            </a:avLst>
          </a:prstGeom>
          <a:solidFill>
            <a:srgbClr val="111827"/>
          </a:solidFill>
          <a:ln w="6350">
            <a:solidFill>
              <a:srgbClr val="00D4FF">
                <a:alpha val="40000"/>
              </a:srgbClr>
            </a:solidFill>
            <a:prstDash val="solid"/>
          </a:ln>
          <a:effectLst>
            <a:outerShdw blurRad="1524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3F4C966C-3AEF-40C1-B149-BD52FDD325EF}"/>
              </a:ext>
            </a:extLst>
          </p:cNvPr>
          <p:cNvSpPr/>
          <p:nvPr/>
        </p:nvSpPr>
        <p:spPr>
          <a:xfrm>
            <a:off x="6398698" y="27614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</a:rPr>
              <a:t>Temporal Smoothing</a:t>
            </a:r>
            <a:endParaRPr lang="en-US" sz="1200" dirty="0"/>
          </a:p>
        </p:txBody>
      </p:sp>
      <p:sp>
        <p:nvSpPr>
          <p:cNvPr id="47" name="Shape 15">
            <a:extLst>
              <a:ext uri="{FF2B5EF4-FFF2-40B4-BE49-F238E27FC236}">
                <a16:creationId xmlns:a16="http://schemas.microsoft.com/office/drawing/2014/main" id="{6BB6AD37-2F79-4CCF-B357-8126797C32E3}"/>
              </a:ext>
            </a:extLst>
          </p:cNvPr>
          <p:cNvSpPr/>
          <p:nvPr/>
        </p:nvSpPr>
        <p:spPr>
          <a:xfrm>
            <a:off x="6352978" y="3200400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16">
            <a:extLst>
              <a:ext uri="{FF2B5EF4-FFF2-40B4-BE49-F238E27FC236}">
                <a16:creationId xmlns:a16="http://schemas.microsoft.com/office/drawing/2014/main" id="{E63DD7C2-216A-488B-A142-4C5CD501582F}"/>
              </a:ext>
            </a:extLst>
          </p:cNvPr>
          <p:cNvSpPr/>
          <p:nvPr/>
        </p:nvSpPr>
        <p:spPr>
          <a:xfrm>
            <a:off x="6352978" y="320040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49" name="Shape 17">
            <a:extLst>
              <a:ext uri="{FF2B5EF4-FFF2-40B4-BE49-F238E27FC236}">
                <a16:creationId xmlns:a16="http://schemas.microsoft.com/office/drawing/2014/main" id="{DE8F9BF6-75F7-4D6C-84A2-231A5570265A}"/>
              </a:ext>
            </a:extLst>
          </p:cNvPr>
          <p:cNvSpPr/>
          <p:nvPr/>
        </p:nvSpPr>
        <p:spPr>
          <a:xfrm>
            <a:off x="6810178" y="3200400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18">
            <a:extLst>
              <a:ext uri="{FF2B5EF4-FFF2-40B4-BE49-F238E27FC236}">
                <a16:creationId xmlns:a16="http://schemas.microsoft.com/office/drawing/2014/main" id="{9BFC825F-2DAD-4394-A44A-B8E8467BFB78}"/>
              </a:ext>
            </a:extLst>
          </p:cNvPr>
          <p:cNvSpPr/>
          <p:nvPr/>
        </p:nvSpPr>
        <p:spPr>
          <a:xfrm>
            <a:off x="6810178" y="320040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51" name="Shape 19">
            <a:extLst>
              <a:ext uri="{FF2B5EF4-FFF2-40B4-BE49-F238E27FC236}">
                <a16:creationId xmlns:a16="http://schemas.microsoft.com/office/drawing/2014/main" id="{A2133FC2-AA3C-471E-ABBE-C4331D44AFFF}"/>
              </a:ext>
            </a:extLst>
          </p:cNvPr>
          <p:cNvSpPr/>
          <p:nvPr/>
        </p:nvSpPr>
        <p:spPr>
          <a:xfrm>
            <a:off x="7267378" y="3200400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F59E0B">
              <a:alpha val="6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20">
            <a:extLst>
              <a:ext uri="{FF2B5EF4-FFF2-40B4-BE49-F238E27FC236}">
                <a16:creationId xmlns:a16="http://schemas.microsoft.com/office/drawing/2014/main" id="{CC5A8A9E-7D9A-4402-A60E-A51105B74ACD}"/>
              </a:ext>
            </a:extLst>
          </p:cNvPr>
          <p:cNvSpPr/>
          <p:nvPr/>
        </p:nvSpPr>
        <p:spPr>
          <a:xfrm>
            <a:off x="7267378" y="320040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53" name="Shape 21">
            <a:extLst>
              <a:ext uri="{FF2B5EF4-FFF2-40B4-BE49-F238E27FC236}">
                <a16:creationId xmlns:a16="http://schemas.microsoft.com/office/drawing/2014/main" id="{CE84F265-0FD0-429A-9849-99C621239AD4}"/>
              </a:ext>
            </a:extLst>
          </p:cNvPr>
          <p:cNvSpPr/>
          <p:nvPr/>
        </p:nvSpPr>
        <p:spPr>
          <a:xfrm>
            <a:off x="7724578" y="3200400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D292FACF-24B4-45CB-836B-3796B6675BDE}"/>
              </a:ext>
            </a:extLst>
          </p:cNvPr>
          <p:cNvSpPr/>
          <p:nvPr/>
        </p:nvSpPr>
        <p:spPr>
          <a:xfrm>
            <a:off x="7724578" y="320040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55" name="Shape 23">
            <a:extLst>
              <a:ext uri="{FF2B5EF4-FFF2-40B4-BE49-F238E27FC236}">
                <a16:creationId xmlns:a16="http://schemas.microsoft.com/office/drawing/2014/main" id="{5B98E34E-CCDA-4BAD-95C9-A3DFB4559F83}"/>
              </a:ext>
            </a:extLst>
          </p:cNvPr>
          <p:cNvSpPr/>
          <p:nvPr/>
        </p:nvSpPr>
        <p:spPr>
          <a:xfrm>
            <a:off x="8181778" y="3200400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6" name="Text 24">
            <a:extLst>
              <a:ext uri="{FF2B5EF4-FFF2-40B4-BE49-F238E27FC236}">
                <a16:creationId xmlns:a16="http://schemas.microsoft.com/office/drawing/2014/main" id="{423994AD-3196-47D1-B021-F78593E59617}"/>
              </a:ext>
            </a:extLst>
          </p:cNvPr>
          <p:cNvSpPr/>
          <p:nvPr/>
        </p:nvSpPr>
        <p:spPr>
          <a:xfrm>
            <a:off x="8181778" y="3200400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57" name="Shape 25">
            <a:extLst>
              <a:ext uri="{FF2B5EF4-FFF2-40B4-BE49-F238E27FC236}">
                <a16:creationId xmlns:a16="http://schemas.microsoft.com/office/drawing/2014/main" id="{CC20E2AA-788E-45A2-8E99-8185A9E2CC39}"/>
              </a:ext>
            </a:extLst>
          </p:cNvPr>
          <p:cNvSpPr/>
          <p:nvPr/>
        </p:nvSpPr>
        <p:spPr>
          <a:xfrm>
            <a:off x="6352978" y="3602736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B378F548-41DC-4CAF-B141-EEBC8C68AF3A}"/>
              </a:ext>
            </a:extLst>
          </p:cNvPr>
          <p:cNvSpPr/>
          <p:nvPr/>
        </p:nvSpPr>
        <p:spPr>
          <a:xfrm>
            <a:off x="6352978" y="360273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59" name="Shape 27">
            <a:extLst>
              <a:ext uri="{FF2B5EF4-FFF2-40B4-BE49-F238E27FC236}">
                <a16:creationId xmlns:a16="http://schemas.microsoft.com/office/drawing/2014/main" id="{8E9682F0-8566-40AC-B10F-E50F14B13FEA}"/>
              </a:ext>
            </a:extLst>
          </p:cNvPr>
          <p:cNvSpPr/>
          <p:nvPr/>
        </p:nvSpPr>
        <p:spPr>
          <a:xfrm>
            <a:off x="6810178" y="3602736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0" name="Text 28">
            <a:extLst>
              <a:ext uri="{FF2B5EF4-FFF2-40B4-BE49-F238E27FC236}">
                <a16:creationId xmlns:a16="http://schemas.microsoft.com/office/drawing/2014/main" id="{34C7F126-EBB2-475D-945E-705402B878D1}"/>
              </a:ext>
            </a:extLst>
          </p:cNvPr>
          <p:cNvSpPr/>
          <p:nvPr/>
        </p:nvSpPr>
        <p:spPr>
          <a:xfrm>
            <a:off x="6810178" y="360273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61" name="Shape 29">
            <a:extLst>
              <a:ext uri="{FF2B5EF4-FFF2-40B4-BE49-F238E27FC236}">
                <a16:creationId xmlns:a16="http://schemas.microsoft.com/office/drawing/2014/main" id="{83FCFC86-BDDA-475A-8E8C-6340C61ED4F7}"/>
              </a:ext>
            </a:extLst>
          </p:cNvPr>
          <p:cNvSpPr/>
          <p:nvPr/>
        </p:nvSpPr>
        <p:spPr>
          <a:xfrm>
            <a:off x="7267378" y="3602736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2" name="Text 30">
            <a:extLst>
              <a:ext uri="{FF2B5EF4-FFF2-40B4-BE49-F238E27FC236}">
                <a16:creationId xmlns:a16="http://schemas.microsoft.com/office/drawing/2014/main" id="{A2237555-B975-4F35-B3C9-20513846C572}"/>
              </a:ext>
            </a:extLst>
          </p:cNvPr>
          <p:cNvSpPr/>
          <p:nvPr/>
        </p:nvSpPr>
        <p:spPr>
          <a:xfrm>
            <a:off x="7267378" y="360273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63" name="Shape 31">
            <a:extLst>
              <a:ext uri="{FF2B5EF4-FFF2-40B4-BE49-F238E27FC236}">
                <a16:creationId xmlns:a16="http://schemas.microsoft.com/office/drawing/2014/main" id="{4B0A0EDC-8E0C-4268-98BC-77E9FA3E9714}"/>
              </a:ext>
            </a:extLst>
          </p:cNvPr>
          <p:cNvSpPr/>
          <p:nvPr/>
        </p:nvSpPr>
        <p:spPr>
          <a:xfrm>
            <a:off x="7724578" y="3602736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4" name="Text 32">
            <a:extLst>
              <a:ext uri="{FF2B5EF4-FFF2-40B4-BE49-F238E27FC236}">
                <a16:creationId xmlns:a16="http://schemas.microsoft.com/office/drawing/2014/main" id="{14AE6611-8B7F-44D3-A0DA-A909C42A6B3D}"/>
              </a:ext>
            </a:extLst>
          </p:cNvPr>
          <p:cNvSpPr/>
          <p:nvPr/>
        </p:nvSpPr>
        <p:spPr>
          <a:xfrm>
            <a:off x="7724578" y="360273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65" name="Shape 33">
            <a:extLst>
              <a:ext uri="{FF2B5EF4-FFF2-40B4-BE49-F238E27FC236}">
                <a16:creationId xmlns:a16="http://schemas.microsoft.com/office/drawing/2014/main" id="{4F5F5461-6CD9-4D84-B1FC-F5B04B1628EF}"/>
              </a:ext>
            </a:extLst>
          </p:cNvPr>
          <p:cNvSpPr/>
          <p:nvPr/>
        </p:nvSpPr>
        <p:spPr>
          <a:xfrm>
            <a:off x="8181778" y="3602736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6" name="Text 34">
            <a:extLst>
              <a:ext uri="{FF2B5EF4-FFF2-40B4-BE49-F238E27FC236}">
                <a16:creationId xmlns:a16="http://schemas.microsoft.com/office/drawing/2014/main" id="{FB86C27D-B1E5-49DF-B237-3BBFE3771453}"/>
              </a:ext>
            </a:extLst>
          </p:cNvPr>
          <p:cNvSpPr/>
          <p:nvPr/>
        </p:nvSpPr>
        <p:spPr>
          <a:xfrm>
            <a:off x="8181778" y="3602736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67" name="Shape 35">
            <a:extLst>
              <a:ext uri="{FF2B5EF4-FFF2-40B4-BE49-F238E27FC236}">
                <a16:creationId xmlns:a16="http://schemas.microsoft.com/office/drawing/2014/main" id="{ADCDBE6C-A4EB-4ACE-9E79-5C4E771CF39A}"/>
              </a:ext>
            </a:extLst>
          </p:cNvPr>
          <p:cNvSpPr/>
          <p:nvPr/>
        </p:nvSpPr>
        <p:spPr>
          <a:xfrm>
            <a:off x="6352978" y="4005072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8" name="Text 36">
            <a:extLst>
              <a:ext uri="{FF2B5EF4-FFF2-40B4-BE49-F238E27FC236}">
                <a16:creationId xmlns:a16="http://schemas.microsoft.com/office/drawing/2014/main" id="{5313B098-3F4A-439B-B5B4-77108B8EFCAD}"/>
              </a:ext>
            </a:extLst>
          </p:cNvPr>
          <p:cNvSpPr/>
          <p:nvPr/>
        </p:nvSpPr>
        <p:spPr>
          <a:xfrm>
            <a:off x="6352978" y="400507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69" name="Shape 37">
            <a:extLst>
              <a:ext uri="{FF2B5EF4-FFF2-40B4-BE49-F238E27FC236}">
                <a16:creationId xmlns:a16="http://schemas.microsoft.com/office/drawing/2014/main" id="{A9114F89-9E0E-404E-8C32-1060824C43C3}"/>
              </a:ext>
            </a:extLst>
          </p:cNvPr>
          <p:cNvSpPr/>
          <p:nvPr/>
        </p:nvSpPr>
        <p:spPr>
          <a:xfrm>
            <a:off x="6810178" y="4005072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0" name="Text 38">
            <a:extLst>
              <a:ext uri="{FF2B5EF4-FFF2-40B4-BE49-F238E27FC236}">
                <a16:creationId xmlns:a16="http://schemas.microsoft.com/office/drawing/2014/main" id="{F9DF19A5-8DF5-4F4E-9B76-B432BA63ACCE}"/>
              </a:ext>
            </a:extLst>
          </p:cNvPr>
          <p:cNvSpPr/>
          <p:nvPr/>
        </p:nvSpPr>
        <p:spPr>
          <a:xfrm>
            <a:off x="6810178" y="400507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71" name="Shape 39">
            <a:extLst>
              <a:ext uri="{FF2B5EF4-FFF2-40B4-BE49-F238E27FC236}">
                <a16:creationId xmlns:a16="http://schemas.microsoft.com/office/drawing/2014/main" id="{67982B52-322A-4DFD-9050-09D14B4B44DF}"/>
              </a:ext>
            </a:extLst>
          </p:cNvPr>
          <p:cNvSpPr/>
          <p:nvPr/>
        </p:nvSpPr>
        <p:spPr>
          <a:xfrm>
            <a:off x="7267378" y="4005072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2" name="Text 40">
            <a:extLst>
              <a:ext uri="{FF2B5EF4-FFF2-40B4-BE49-F238E27FC236}">
                <a16:creationId xmlns:a16="http://schemas.microsoft.com/office/drawing/2014/main" id="{B9A67D07-39A5-4282-A3B6-04F325D09120}"/>
              </a:ext>
            </a:extLst>
          </p:cNvPr>
          <p:cNvSpPr/>
          <p:nvPr/>
        </p:nvSpPr>
        <p:spPr>
          <a:xfrm>
            <a:off x="7267378" y="400507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73" name="Shape 41">
            <a:extLst>
              <a:ext uri="{FF2B5EF4-FFF2-40B4-BE49-F238E27FC236}">
                <a16:creationId xmlns:a16="http://schemas.microsoft.com/office/drawing/2014/main" id="{4DD8524B-AB85-4CF1-A3AF-293FF1CFAE3B}"/>
              </a:ext>
            </a:extLst>
          </p:cNvPr>
          <p:cNvSpPr/>
          <p:nvPr/>
        </p:nvSpPr>
        <p:spPr>
          <a:xfrm>
            <a:off x="7724578" y="4005072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4" name="Text 42">
            <a:extLst>
              <a:ext uri="{FF2B5EF4-FFF2-40B4-BE49-F238E27FC236}">
                <a16:creationId xmlns:a16="http://schemas.microsoft.com/office/drawing/2014/main" id="{E097E68A-1207-4926-AF97-E1A4A113A854}"/>
              </a:ext>
            </a:extLst>
          </p:cNvPr>
          <p:cNvSpPr/>
          <p:nvPr/>
        </p:nvSpPr>
        <p:spPr>
          <a:xfrm>
            <a:off x="7724578" y="400507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75" name="Shape 43">
            <a:extLst>
              <a:ext uri="{FF2B5EF4-FFF2-40B4-BE49-F238E27FC236}">
                <a16:creationId xmlns:a16="http://schemas.microsoft.com/office/drawing/2014/main" id="{9D0D9449-2D17-4280-8369-610DEC4D8346}"/>
              </a:ext>
            </a:extLst>
          </p:cNvPr>
          <p:cNvSpPr/>
          <p:nvPr/>
        </p:nvSpPr>
        <p:spPr>
          <a:xfrm>
            <a:off x="8181778" y="4005072"/>
            <a:ext cx="365760" cy="329184"/>
          </a:xfrm>
          <a:prstGeom prst="roundRect">
            <a:avLst>
              <a:gd name="adj" fmla="val 16667"/>
            </a:avLst>
          </a:prstGeom>
          <a:solidFill>
            <a:srgbClr val="10B981">
              <a:alpha val="6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6" name="Text 44">
            <a:extLst>
              <a:ext uri="{FF2B5EF4-FFF2-40B4-BE49-F238E27FC236}">
                <a16:creationId xmlns:a16="http://schemas.microsoft.com/office/drawing/2014/main" id="{16892F93-C449-4619-B320-1C7EE737DE68}"/>
              </a:ext>
            </a:extLst>
          </p:cNvPr>
          <p:cNvSpPr/>
          <p:nvPr/>
        </p:nvSpPr>
        <p:spPr>
          <a:xfrm>
            <a:off x="8181778" y="4005072"/>
            <a:ext cx="36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77" name="Text 45">
            <a:extLst>
              <a:ext uri="{FF2B5EF4-FFF2-40B4-BE49-F238E27FC236}">
                <a16:creationId xmlns:a16="http://schemas.microsoft.com/office/drawing/2014/main" id="{25F530EB-1714-43A8-BEF7-249FDA1B8293}"/>
              </a:ext>
            </a:extLst>
          </p:cNvPr>
          <p:cNvSpPr/>
          <p:nvPr/>
        </p:nvSpPr>
        <p:spPr>
          <a:xfrm>
            <a:off x="6261538" y="41148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</a:rPr>
              <a:t>15-frame window  →  A wins (14/15)</a:t>
            </a:r>
            <a:endParaRPr lang="en-US" sz="900" dirty="0"/>
          </a:p>
        </p:txBody>
      </p:sp>
      <p:sp>
        <p:nvSpPr>
          <p:cNvPr id="78" name="Shape 46">
            <a:extLst>
              <a:ext uri="{FF2B5EF4-FFF2-40B4-BE49-F238E27FC236}">
                <a16:creationId xmlns:a16="http://schemas.microsoft.com/office/drawing/2014/main" id="{2101769D-4019-4B72-A4B2-1B9FA211DE66}"/>
              </a:ext>
            </a:extLst>
          </p:cNvPr>
          <p:cNvSpPr/>
          <p:nvPr/>
        </p:nvSpPr>
        <p:spPr>
          <a:xfrm>
            <a:off x="6398698" y="4425696"/>
            <a:ext cx="2194560" cy="329184"/>
          </a:xfrm>
          <a:prstGeom prst="roundRect">
            <a:avLst>
              <a:gd name="adj" fmla="val 50000"/>
            </a:avLst>
          </a:prstGeom>
          <a:solidFill>
            <a:srgbClr val="10B981">
              <a:alpha val="7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9" name="Text 47">
            <a:extLst>
              <a:ext uri="{FF2B5EF4-FFF2-40B4-BE49-F238E27FC236}">
                <a16:creationId xmlns:a16="http://schemas.microsoft.com/office/drawing/2014/main" id="{CC4723AC-035A-40AF-9F87-B91DBBA45840}"/>
              </a:ext>
            </a:extLst>
          </p:cNvPr>
          <p:cNvSpPr/>
          <p:nvPr/>
        </p:nvSpPr>
        <p:spPr>
          <a:xfrm>
            <a:off x="6398698" y="4425696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ACCEPTED:  A</a:t>
            </a:r>
            <a:endParaRPr lang="en-US" sz="1300" dirty="0"/>
          </a:p>
        </p:txBody>
      </p:sp>
      <p:sp>
        <p:nvSpPr>
          <p:cNvPr id="80" name="Shape 48">
            <a:extLst>
              <a:ext uri="{FF2B5EF4-FFF2-40B4-BE49-F238E27FC236}">
                <a16:creationId xmlns:a16="http://schemas.microsoft.com/office/drawing/2014/main" id="{102EE154-1DEC-40EA-945C-3F1E3E07025E}"/>
              </a:ext>
            </a:extLst>
          </p:cNvPr>
          <p:cNvSpPr/>
          <p:nvPr/>
        </p:nvSpPr>
        <p:spPr>
          <a:xfrm>
            <a:off x="411480" y="3483864"/>
            <a:ext cx="109728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1" name="Text 49">
            <a:extLst>
              <a:ext uri="{FF2B5EF4-FFF2-40B4-BE49-F238E27FC236}">
                <a16:creationId xmlns:a16="http://schemas.microsoft.com/office/drawing/2014/main" id="{271B4C95-D787-450E-85CC-4B6ED32BCA40}"/>
              </a:ext>
            </a:extLst>
          </p:cNvPr>
          <p:cNvSpPr/>
          <p:nvPr/>
        </p:nvSpPr>
        <p:spPr>
          <a:xfrm>
            <a:off x="621792" y="3429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Confidence Threshold:</a:t>
            </a:r>
            <a:endParaRPr lang="en-US" sz="1000" dirty="0"/>
          </a:p>
        </p:txBody>
      </p:sp>
      <p:sp>
        <p:nvSpPr>
          <p:cNvPr id="82" name="Text 50">
            <a:extLst>
              <a:ext uri="{FF2B5EF4-FFF2-40B4-BE49-F238E27FC236}">
                <a16:creationId xmlns:a16="http://schemas.microsoft.com/office/drawing/2014/main" id="{F6550B35-330B-4FE0-8C94-D858470AF10C}"/>
              </a:ext>
            </a:extLst>
          </p:cNvPr>
          <p:cNvSpPr/>
          <p:nvPr/>
        </p:nvSpPr>
        <p:spPr>
          <a:xfrm>
            <a:off x="3657600" y="3429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≥ 0.80</a:t>
            </a:r>
            <a:endParaRPr lang="en-US" sz="1000" dirty="0"/>
          </a:p>
        </p:txBody>
      </p:sp>
      <p:sp>
        <p:nvSpPr>
          <p:cNvPr id="83" name="Shape 51">
            <a:extLst>
              <a:ext uri="{FF2B5EF4-FFF2-40B4-BE49-F238E27FC236}">
                <a16:creationId xmlns:a16="http://schemas.microsoft.com/office/drawing/2014/main" id="{F2AF22B0-4884-40FD-90BA-1D5E852768B0}"/>
              </a:ext>
            </a:extLst>
          </p:cNvPr>
          <p:cNvSpPr/>
          <p:nvPr/>
        </p:nvSpPr>
        <p:spPr>
          <a:xfrm>
            <a:off x="411480" y="3776472"/>
            <a:ext cx="109728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4" name="Text 52">
            <a:extLst>
              <a:ext uri="{FF2B5EF4-FFF2-40B4-BE49-F238E27FC236}">
                <a16:creationId xmlns:a16="http://schemas.microsoft.com/office/drawing/2014/main" id="{E949B25D-9BED-48F6-BB0A-DF6E5B03B95E}"/>
              </a:ext>
            </a:extLst>
          </p:cNvPr>
          <p:cNvSpPr/>
          <p:nvPr/>
        </p:nvSpPr>
        <p:spPr>
          <a:xfrm>
            <a:off x="621792" y="372160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Buffer Size:</a:t>
            </a:r>
            <a:endParaRPr lang="en-US" sz="1000" dirty="0"/>
          </a:p>
        </p:txBody>
      </p:sp>
      <p:sp>
        <p:nvSpPr>
          <p:cNvPr id="85" name="Text 53">
            <a:extLst>
              <a:ext uri="{FF2B5EF4-FFF2-40B4-BE49-F238E27FC236}">
                <a16:creationId xmlns:a16="http://schemas.microsoft.com/office/drawing/2014/main" id="{DFB8A470-FEF6-4D72-B2B9-FD273A18C422}"/>
              </a:ext>
            </a:extLst>
          </p:cNvPr>
          <p:cNvSpPr/>
          <p:nvPr/>
        </p:nvSpPr>
        <p:spPr>
          <a:xfrm>
            <a:off x="3657600" y="37216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15 frames</a:t>
            </a:r>
            <a:endParaRPr lang="en-US" sz="1000" dirty="0"/>
          </a:p>
        </p:txBody>
      </p:sp>
      <p:sp>
        <p:nvSpPr>
          <p:cNvPr id="86" name="Shape 54">
            <a:extLst>
              <a:ext uri="{FF2B5EF4-FFF2-40B4-BE49-F238E27FC236}">
                <a16:creationId xmlns:a16="http://schemas.microsoft.com/office/drawing/2014/main" id="{5D6FCFE1-D7A4-4085-9E8A-AF9E99FB17D4}"/>
              </a:ext>
            </a:extLst>
          </p:cNvPr>
          <p:cNvSpPr/>
          <p:nvPr/>
        </p:nvSpPr>
        <p:spPr>
          <a:xfrm>
            <a:off x="411480" y="4069080"/>
            <a:ext cx="109728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7" name="Text 55">
            <a:extLst>
              <a:ext uri="{FF2B5EF4-FFF2-40B4-BE49-F238E27FC236}">
                <a16:creationId xmlns:a16="http://schemas.microsoft.com/office/drawing/2014/main" id="{4A496E47-F6C2-43B9-9F52-391F81015774}"/>
              </a:ext>
            </a:extLst>
          </p:cNvPr>
          <p:cNvSpPr/>
          <p:nvPr/>
        </p:nvSpPr>
        <p:spPr>
          <a:xfrm>
            <a:off x="621792" y="401421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Vote Majority:</a:t>
            </a:r>
            <a:endParaRPr lang="en-US" sz="1000" dirty="0"/>
          </a:p>
        </p:txBody>
      </p:sp>
      <p:sp>
        <p:nvSpPr>
          <p:cNvPr id="88" name="Text 56">
            <a:extLst>
              <a:ext uri="{FF2B5EF4-FFF2-40B4-BE49-F238E27FC236}">
                <a16:creationId xmlns:a16="http://schemas.microsoft.com/office/drawing/2014/main" id="{D6168FE9-DAB5-4EC0-A1AF-881D592459FD}"/>
              </a:ext>
            </a:extLst>
          </p:cNvPr>
          <p:cNvSpPr/>
          <p:nvPr/>
        </p:nvSpPr>
        <p:spPr>
          <a:xfrm>
            <a:off x="3657600" y="401421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≥ 60%</a:t>
            </a:r>
            <a:endParaRPr lang="en-US" sz="1000" dirty="0"/>
          </a:p>
        </p:txBody>
      </p:sp>
      <p:sp>
        <p:nvSpPr>
          <p:cNvPr id="89" name="Shape 57">
            <a:extLst>
              <a:ext uri="{FF2B5EF4-FFF2-40B4-BE49-F238E27FC236}">
                <a16:creationId xmlns:a16="http://schemas.microsoft.com/office/drawing/2014/main" id="{E3DE978E-D780-439A-8FAE-842D5C74DB34}"/>
              </a:ext>
            </a:extLst>
          </p:cNvPr>
          <p:cNvSpPr/>
          <p:nvPr/>
        </p:nvSpPr>
        <p:spPr>
          <a:xfrm>
            <a:off x="411480" y="4361688"/>
            <a:ext cx="109728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0" name="Text 58">
            <a:extLst>
              <a:ext uri="{FF2B5EF4-FFF2-40B4-BE49-F238E27FC236}">
                <a16:creationId xmlns:a16="http://schemas.microsoft.com/office/drawing/2014/main" id="{7B69AF1C-86B3-4EE2-AC44-D9206030522B}"/>
              </a:ext>
            </a:extLst>
          </p:cNvPr>
          <p:cNvSpPr/>
          <p:nvPr/>
        </p:nvSpPr>
        <p:spPr>
          <a:xfrm>
            <a:off x="621792" y="43068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Cooldown (realtime):</a:t>
            </a:r>
            <a:endParaRPr lang="en-US" sz="1000" dirty="0"/>
          </a:p>
        </p:txBody>
      </p:sp>
      <p:sp>
        <p:nvSpPr>
          <p:cNvPr id="91" name="Text 59">
            <a:extLst>
              <a:ext uri="{FF2B5EF4-FFF2-40B4-BE49-F238E27FC236}">
                <a16:creationId xmlns:a16="http://schemas.microsoft.com/office/drawing/2014/main" id="{84A292C1-9539-45F0-B451-36D2835DA93C}"/>
              </a:ext>
            </a:extLst>
          </p:cNvPr>
          <p:cNvSpPr/>
          <p:nvPr/>
        </p:nvSpPr>
        <p:spPr>
          <a:xfrm>
            <a:off x="3657600" y="43068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1.5 s</a:t>
            </a:r>
            <a:endParaRPr lang="en-US" sz="1000" dirty="0"/>
          </a:p>
        </p:txBody>
      </p:sp>
      <p:sp>
        <p:nvSpPr>
          <p:cNvPr id="92" name="Shape 60">
            <a:extLst>
              <a:ext uri="{FF2B5EF4-FFF2-40B4-BE49-F238E27FC236}">
                <a16:creationId xmlns:a16="http://schemas.microsoft.com/office/drawing/2014/main" id="{F65CCF3F-CDA4-4DD1-BA4E-FF247FECADF2}"/>
              </a:ext>
            </a:extLst>
          </p:cNvPr>
          <p:cNvSpPr/>
          <p:nvPr/>
        </p:nvSpPr>
        <p:spPr>
          <a:xfrm>
            <a:off x="411480" y="4654296"/>
            <a:ext cx="109728" cy="10972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3" name="Text 61">
            <a:extLst>
              <a:ext uri="{FF2B5EF4-FFF2-40B4-BE49-F238E27FC236}">
                <a16:creationId xmlns:a16="http://schemas.microsoft.com/office/drawing/2014/main" id="{DB2FA234-DBD4-428A-A866-A1665B3BF3E5}"/>
              </a:ext>
            </a:extLst>
          </p:cNvPr>
          <p:cNvSpPr/>
          <p:nvPr/>
        </p:nvSpPr>
        <p:spPr>
          <a:xfrm>
            <a:off x="621792" y="459943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Debounce Frames:</a:t>
            </a:r>
            <a:endParaRPr lang="en-US" sz="1000" dirty="0"/>
          </a:p>
        </p:txBody>
      </p:sp>
      <p:sp>
        <p:nvSpPr>
          <p:cNvPr id="94" name="Text 62">
            <a:extLst>
              <a:ext uri="{FF2B5EF4-FFF2-40B4-BE49-F238E27FC236}">
                <a16:creationId xmlns:a16="http://schemas.microsoft.com/office/drawing/2014/main" id="{903C15E4-CBEC-4381-BCCB-F649EE758085}"/>
              </a:ext>
            </a:extLst>
          </p:cNvPr>
          <p:cNvSpPr/>
          <p:nvPr/>
        </p:nvSpPr>
        <p:spPr>
          <a:xfrm>
            <a:off x="3657600" y="45994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</a:rPr>
              <a:t>8 frames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098548" cy="246888"/>
          </a:xfrm>
          <a:prstGeom prst="roundRect">
            <a:avLst>
              <a:gd name="adj" fmla="val 1851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20985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OUTPUTS · SLIDE 3/3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Comparison — Paper vs Our Implementation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320040" y="1417320"/>
          <a:ext cx="85039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461772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Dynamic gesture &amp; cross-language values are estimates. Realtime FPS measured on CPU. Paper uses GPU-optimized CUDA pipeline.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290572" cy="246888"/>
          </a:xfrm>
          <a:prstGeom prst="roundRect">
            <a:avLst>
              <a:gd name="adj" fmla="val 1851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22905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TAKEAWAYS · SLIDE 1/2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&amp; Solutions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8503920" cy="5212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417320"/>
            <a:ext cx="54864" cy="521208"/>
          </a:xfrm>
          <a:prstGeom prst="rect">
            <a:avLst/>
          </a:prstGeom>
          <a:solidFill>
            <a:srgbClr val="F78166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53896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Camera freeze during speech output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453896"/>
            <a:ext cx="0" cy="438912"/>
          </a:xfrm>
          <a:prstGeom prst="line">
            <a:avLst/>
          </a:prstGeom>
          <a:noFill/>
          <a:ln w="12700">
            <a:solidFill>
              <a:srgbClr val="F78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453896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TTS moved to daemon thread — UI never blocks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993392"/>
            <a:ext cx="8503920" cy="5212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993392"/>
            <a:ext cx="54864" cy="521208"/>
          </a:xfrm>
          <a:prstGeom prst="rect">
            <a:avLst/>
          </a:prstGeom>
          <a:solidFill>
            <a:srgbClr val="E3B341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29968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Flickering / unstable predictions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2029968"/>
            <a:ext cx="0" cy="438912"/>
          </a:xfrm>
          <a:prstGeom prst="line">
            <a:avLst/>
          </a:prstGeom>
          <a:noFill/>
          <a:ln w="12700">
            <a:solidFill>
              <a:srgbClr val="E3B3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029968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10-frame buffer with majority voting + 8-frame consistency gate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569464"/>
            <a:ext cx="8503920" cy="5212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569464"/>
            <a:ext cx="54864" cy="521208"/>
          </a:xfrm>
          <a:prstGeom prst="rect">
            <a:avLst/>
          </a:prstGeom>
          <a:solidFill>
            <a:srgbClr val="F06292"/>
          </a:solidFill>
          <a:ln w="12700">
            <a:solidFill>
              <a:srgbClr val="F0629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60604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Same letter registered multiple times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0" y="2606040"/>
            <a:ext cx="0" cy="438912"/>
          </a:xfrm>
          <a:prstGeom prst="line">
            <a:avLst/>
          </a:prstGeom>
          <a:noFill/>
          <a:ln w="12700">
            <a:solidFill>
              <a:srgbClr val="F0629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60604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1.5s cooldown timer between acceptances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145536"/>
            <a:ext cx="8503920" cy="5212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145536"/>
            <a:ext cx="54864" cy="52120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182112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Background noise disrupting detection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3182112"/>
            <a:ext cx="0" cy="438912"/>
          </a:xfrm>
          <a:prstGeom prst="line">
            <a:avLst/>
          </a:prstGeom>
          <a:noFill/>
          <a:ln w="12700">
            <a:solidFill>
              <a:srgbClr val="00E5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3182112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Gaussian threshold + MediaPipe landmark masking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3721608"/>
            <a:ext cx="8503920" cy="5212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721608"/>
            <a:ext cx="54864" cy="521208"/>
          </a:xfrm>
          <a:prstGeom prst="rect">
            <a:avLst/>
          </a:prstGeom>
          <a:solidFill>
            <a:srgbClr val="39D353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758184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Model overfitting on training data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0" y="3758184"/>
            <a:ext cx="0" cy="438912"/>
          </a:xfrm>
          <a:prstGeom prst="line">
            <a:avLst/>
          </a:prstGeom>
          <a:noFill/>
          <a:ln w="12700">
            <a:solidFill>
              <a:srgbClr val="39D35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758184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Dropout(0.3/0.2), data augmentation, early stopping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0040" y="4297680"/>
            <a:ext cx="8503920" cy="52120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4297680"/>
            <a:ext cx="54864" cy="52120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334256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Distribution mismatch (train vs realtime)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0" y="4334256"/>
            <a:ext cx="0" cy="438912"/>
          </a:xfrm>
          <a:prstGeom prst="line">
            <a:avLst/>
          </a:prstGeom>
          <a:noFill/>
          <a:ln w="12700">
            <a:solidFill>
              <a:srgbClr val="7B5E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4334256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White-canvas 96×96 preprocessing matches training normalization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01168"/>
            <a:ext cx="2290572" cy="246888"/>
          </a:xfrm>
          <a:prstGeom prst="roundRect">
            <a:avLst>
              <a:gd name="adj" fmla="val 18519"/>
            </a:avLst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01168"/>
            <a:ext cx="22905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TAKEAWAYS · SLIDE 2/2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54864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&amp; Future Scope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8503920" cy="0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417320"/>
            <a:ext cx="8503920" cy="23042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813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83664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83794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dramatically reduces training time — MobileNetV2 adapts to ASL in &lt;30 epochs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176272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fine-tuning is critical — too-early fine-tuning destroys pretrained features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5146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consistency matters — training and inference must use identical normalization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98648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852928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smoothing is essential for realtime stability — raw per-frame predictions flicker badly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36976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191256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 + cooldown are non-negotiable for practical word-building letter systems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75304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529584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thresholds need tuning per environment — poor lighting requires different thresholds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" y="384048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0040" y="4251960"/>
            <a:ext cx="278892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2885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Dynamic gesture recognition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452628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LSTM sequence model for motion-based signs (J, Z)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72968" y="4251960"/>
            <a:ext cx="278892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4408" y="42885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Facial expression integration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64408" y="452628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facial landmarks for complete ASL understanding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25896" y="4251960"/>
            <a:ext cx="278892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17336" y="4288536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Cross-language support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17336" y="452628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adaptation for BSL, ISL, and other sign languages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0040" y="4846320"/>
            <a:ext cx="416052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882896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Mobile deployment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1480" y="512064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/ CoreML conversion for smartphone use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90872" y="4846320"/>
            <a:ext cx="4160520" cy="530352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82312" y="4882896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Context-aware word prediction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82312" y="5120640"/>
            <a:ext cx="3977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 integration for full sentence generation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572000" cy="4572000"/>
          </a:xfrm>
          <a:prstGeom prst="ellipse">
            <a:avLst/>
          </a:prstGeom>
          <a:solidFill>
            <a:srgbClr val="1C0F2E"/>
          </a:solidFill>
          <a:ln w="12700">
            <a:solidFill>
              <a:srgbClr val="1C0F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2057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Sign Language Recognition  ·  Deep Learning  ·  Assistive AI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2542032"/>
            <a:ext cx="4572000" cy="36576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0" y="2724912"/>
            <a:ext cx="2743200" cy="457200"/>
          </a:xfrm>
          <a:prstGeom prst="roundRect">
            <a:avLst>
              <a:gd name="adj" fmla="val 20000"/>
            </a:avLst>
          </a:prstGeom>
          <a:solidFill>
            <a:srgbClr val="7B5EA7">
              <a:alpha val="80000"/>
            </a:srgbClr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272491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3364992"/>
            <a:ext cx="1664208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9D35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3364992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~99% Train Acc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02536" y="3364992"/>
            <a:ext cx="1664208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02536" y="3364992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~94% Val Acc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76472" y="3364992"/>
            <a:ext cx="1664208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E3B3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76472" y="3364992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FPS Real-Time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50408" y="3364992"/>
            <a:ext cx="1664208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F78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50408" y="3364992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8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 Latency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24344" y="3364992"/>
            <a:ext cx="1664208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24344" y="3364992"/>
            <a:ext cx="16642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26-Class ASL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4041648"/>
            <a:ext cx="8503920" cy="8686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1480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TensorFlow  ·  MediaPipe  ·  OpenCV  ·  pyttsx3  ·  MobileNetV2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3891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best_phase1.keras  ·  best_phase2.keras  ·  sign_model_tf/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 ·  Department of Computer Science  ·  2024–25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2127</TotalTime>
  <Words>2448</Words>
  <Application>Microsoft Office PowerPoint</Application>
  <PresentationFormat>On-screen Show (16:9)</PresentationFormat>
  <Paragraphs>469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ASL Sign Language Recognition - Research &amp; Implementation</dc:title>
  <dc:subject>PptxGenJS Presentation</dc:subject>
  <dc:creator>PptxGenJS</dc:creator>
  <cp:lastModifiedBy>admin</cp:lastModifiedBy>
  <cp:revision>16</cp:revision>
  <dcterms:created xsi:type="dcterms:W3CDTF">2026-04-19T10:32:47Z</dcterms:created>
  <dcterms:modified xsi:type="dcterms:W3CDTF">2026-04-20T22:09:58Z</dcterms:modified>
</cp:coreProperties>
</file>